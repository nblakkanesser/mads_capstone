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6"/>
  </p:notesMasterIdLst>
  <p:handoutMasterIdLst>
    <p:handoutMasterId r:id="rId7"/>
  </p:handoutMasterIdLst>
  <p:sldIdLst>
    <p:sldId id="261" r:id="rId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3D00"/>
    <a:srgbClr val="B87B00"/>
    <a:srgbClr val="D56C3D"/>
    <a:srgbClr val="DBE8D4"/>
    <a:srgbClr val="5C3E00"/>
    <a:srgbClr val="865900"/>
    <a:srgbClr val="506C85"/>
    <a:srgbClr val="65914D"/>
    <a:srgbClr val="9EC18C"/>
    <a:srgbClr val="5D7C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1770" y="-2922"/>
      </p:cViewPr>
      <p:guideLst/>
    </p:cSldViewPr>
  </p:slideViewPr>
  <p:notesTextViewPr>
    <p:cViewPr>
      <p:scale>
        <a:sx n="1" d="1"/>
        <a:sy n="1" d="1"/>
      </p:scale>
      <p:origin x="0" y="0"/>
    </p:cViewPr>
  </p:notesTextViewPr>
  <p:notesViewPr>
    <p:cSldViewPr snapToGrid="0">
      <p:cViewPr varScale="1">
        <p:scale>
          <a:sx n="60" d="100"/>
          <a:sy n="60" d="100"/>
        </p:scale>
        <p:origin x="158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ourtney%20Gibson\Documents\02%20-%20Education\MADS%202021\Capstone\MADS_Capstone\05_nps_analysis\nps_monthly_visits.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Courtney%20Gibson\Documents\02%20-%20Education\MADS%202021\Capstone\api_model_evalua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[nps_monthly_visits..xlsx]nps_monthly_visits!PivotTable16</c:name>
    <c:fmtId val="5"/>
  </c:pivotSource>
  <c:chart>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781404036600686"/>
          <c:y val="0.35069247831496941"/>
          <c:w val="0.85593403967055126"/>
          <c:h val="0.41833937432824897"/>
        </c:manualLayout>
      </c:layout>
      <c:lineChart>
        <c:grouping val="standard"/>
        <c:varyColors val="0"/>
        <c:ser>
          <c:idx val="0"/>
          <c:order val="0"/>
          <c:tx>
            <c:strRef>
              <c:f>nps_monthly_visits!$F$2:$F$3</c:f>
              <c:strCache>
                <c:ptCount val="1"/>
                <c:pt idx="0">
                  <c:v>Intermountain </c:v>
                </c:pt>
              </c:strCache>
            </c:strRef>
          </c:tx>
          <c:spPr>
            <a:ln w="28575" cap="rnd">
              <a:solidFill>
                <a:schemeClr val="accent2"/>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nps_monthly_visits!$F$4:$F$16</c:f>
              <c:numCache>
                <c:formatCode>0</c:formatCode>
                <c:ptCount val="12"/>
                <c:pt idx="0">
                  <c:v>1543550</c:v>
                </c:pt>
                <c:pt idx="1">
                  <c:v>1779714</c:v>
                </c:pt>
                <c:pt idx="2">
                  <c:v>3102198</c:v>
                </c:pt>
                <c:pt idx="3">
                  <c:v>4009751</c:v>
                </c:pt>
                <c:pt idx="4">
                  <c:v>5654854</c:v>
                </c:pt>
                <c:pt idx="5">
                  <c:v>7766566</c:v>
                </c:pt>
                <c:pt idx="6">
                  <c:v>8363181</c:v>
                </c:pt>
                <c:pt idx="7">
                  <c:v>7159873</c:v>
                </c:pt>
                <c:pt idx="8">
                  <c:v>6829884</c:v>
                </c:pt>
                <c:pt idx="9">
                  <c:v>4775800</c:v>
                </c:pt>
                <c:pt idx="10">
                  <c:v>2369396</c:v>
                </c:pt>
                <c:pt idx="11">
                  <c:v>1987478</c:v>
                </c:pt>
              </c:numCache>
            </c:numRef>
          </c:val>
          <c:smooth val="0"/>
          <c:extLst>
            <c:ext xmlns:c16="http://schemas.microsoft.com/office/drawing/2014/chart" uri="{C3380CC4-5D6E-409C-BE32-E72D297353CC}">
              <c16:uniqueId val="{00000000-DB58-4926-80C3-B0907C71B141}"/>
            </c:ext>
          </c:extLst>
        </c:ser>
        <c:ser>
          <c:idx val="1"/>
          <c:order val="1"/>
          <c:tx>
            <c:strRef>
              <c:f>nps_monthly_visits!$G$2:$G$3</c:f>
              <c:strCache>
                <c:ptCount val="1"/>
                <c:pt idx="0">
                  <c:v>Midwest </c:v>
                </c:pt>
              </c:strCache>
            </c:strRef>
          </c:tx>
          <c:spPr>
            <a:ln w="28575" cap="rnd">
              <a:solidFill>
                <a:schemeClr val="accent6"/>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nps_monthly_visits!$G$4:$G$16</c:f>
              <c:numCache>
                <c:formatCode>0</c:formatCode>
                <c:ptCount val="12"/>
                <c:pt idx="0">
                  <c:v>652289</c:v>
                </c:pt>
                <c:pt idx="1">
                  <c:v>808000</c:v>
                </c:pt>
                <c:pt idx="2">
                  <c:v>1244696</c:v>
                </c:pt>
                <c:pt idx="3">
                  <c:v>1462887</c:v>
                </c:pt>
                <c:pt idx="4">
                  <c:v>2569181</c:v>
                </c:pt>
                <c:pt idx="5">
                  <c:v>4040237</c:v>
                </c:pt>
                <c:pt idx="6">
                  <c:v>4902933</c:v>
                </c:pt>
                <c:pt idx="7">
                  <c:v>3823649</c:v>
                </c:pt>
                <c:pt idx="8">
                  <c:v>2631784</c:v>
                </c:pt>
                <c:pt idx="9">
                  <c:v>1670428</c:v>
                </c:pt>
                <c:pt idx="10">
                  <c:v>889186</c:v>
                </c:pt>
                <c:pt idx="11">
                  <c:v>687461</c:v>
                </c:pt>
              </c:numCache>
            </c:numRef>
          </c:val>
          <c:smooth val="0"/>
          <c:extLst>
            <c:ext xmlns:c16="http://schemas.microsoft.com/office/drawing/2014/chart" uri="{C3380CC4-5D6E-409C-BE32-E72D297353CC}">
              <c16:uniqueId val="{00000001-DB58-4926-80C3-B0907C71B141}"/>
            </c:ext>
          </c:extLst>
        </c:ser>
        <c:ser>
          <c:idx val="2"/>
          <c:order val="2"/>
          <c:tx>
            <c:strRef>
              <c:f>nps_monthly_visits!$H$2:$H$3</c:f>
              <c:strCache>
                <c:ptCount val="1"/>
                <c:pt idx="0">
                  <c:v>National Capital </c:v>
                </c:pt>
              </c:strCache>
            </c:strRef>
          </c:tx>
          <c:spPr>
            <a:ln w="28575" cap="rnd">
              <a:solidFill>
                <a:schemeClr val="accent5"/>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nps_monthly_visits!$H$4:$H$16</c:f>
              <c:numCache>
                <c:formatCode>0</c:formatCode>
                <c:ptCount val="12"/>
                <c:pt idx="0">
                  <c:v>2326232</c:v>
                </c:pt>
                <c:pt idx="1">
                  <c:v>2664075</c:v>
                </c:pt>
                <c:pt idx="2">
                  <c:v>5621369</c:v>
                </c:pt>
                <c:pt idx="3">
                  <c:v>6373152</c:v>
                </c:pt>
                <c:pt idx="4">
                  <c:v>6188326</c:v>
                </c:pt>
                <c:pt idx="5">
                  <c:v>5910308</c:v>
                </c:pt>
                <c:pt idx="6">
                  <c:v>5561473</c:v>
                </c:pt>
                <c:pt idx="7">
                  <c:v>4981326</c:v>
                </c:pt>
                <c:pt idx="8">
                  <c:v>4266863</c:v>
                </c:pt>
                <c:pt idx="9">
                  <c:v>5143187</c:v>
                </c:pt>
                <c:pt idx="10">
                  <c:v>3904268</c:v>
                </c:pt>
                <c:pt idx="11">
                  <c:v>3229328</c:v>
                </c:pt>
              </c:numCache>
            </c:numRef>
          </c:val>
          <c:smooth val="0"/>
          <c:extLst>
            <c:ext xmlns:c16="http://schemas.microsoft.com/office/drawing/2014/chart" uri="{C3380CC4-5D6E-409C-BE32-E72D297353CC}">
              <c16:uniqueId val="{00000002-DB58-4926-80C3-B0907C71B141}"/>
            </c:ext>
          </c:extLst>
        </c:ser>
        <c:ser>
          <c:idx val="3"/>
          <c:order val="3"/>
          <c:tx>
            <c:strRef>
              <c:f>nps_monthly_visits!$I$2:$I$3</c:f>
              <c:strCache>
                <c:ptCount val="1"/>
                <c:pt idx="0">
                  <c:v>Northeast </c:v>
                </c:pt>
              </c:strCache>
            </c:strRef>
          </c:tx>
          <c:spPr>
            <a:ln w="28575" cap="rnd">
              <a:solidFill>
                <a:schemeClr val="accent2">
                  <a:lumMod val="90000"/>
                  <a:lumOff val="10000"/>
                </a:schemeClr>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nps_monthly_visits!$I$4:$I$16</c:f>
              <c:numCache>
                <c:formatCode>0</c:formatCode>
                <c:ptCount val="12"/>
                <c:pt idx="0">
                  <c:v>1947731</c:v>
                </c:pt>
                <c:pt idx="1">
                  <c:v>2005639</c:v>
                </c:pt>
                <c:pt idx="2">
                  <c:v>2869927</c:v>
                </c:pt>
                <c:pt idx="3">
                  <c:v>3980785</c:v>
                </c:pt>
                <c:pt idx="4">
                  <c:v>5071565</c:v>
                </c:pt>
                <c:pt idx="5">
                  <c:v>6692040</c:v>
                </c:pt>
                <c:pt idx="6">
                  <c:v>7635125</c:v>
                </c:pt>
                <c:pt idx="7">
                  <c:v>7179280</c:v>
                </c:pt>
                <c:pt idx="8">
                  <c:v>5641273</c:v>
                </c:pt>
                <c:pt idx="9">
                  <c:v>5435200</c:v>
                </c:pt>
                <c:pt idx="10">
                  <c:v>3166449</c:v>
                </c:pt>
                <c:pt idx="11">
                  <c:v>2454372</c:v>
                </c:pt>
              </c:numCache>
            </c:numRef>
          </c:val>
          <c:smooth val="0"/>
          <c:extLst>
            <c:ext xmlns:c16="http://schemas.microsoft.com/office/drawing/2014/chart" uri="{C3380CC4-5D6E-409C-BE32-E72D297353CC}">
              <c16:uniqueId val="{00000003-DB58-4926-80C3-B0907C71B141}"/>
            </c:ext>
          </c:extLst>
        </c:ser>
        <c:ser>
          <c:idx val="4"/>
          <c:order val="4"/>
          <c:tx>
            <c:strRef>
              <c:f>nps_monthly_visits!$J$2:$J$3</c:f>
              <c:strCache>
                <c:ptCount val="1"/>
                <c:pt idx="0">
                  <c:v>Pacific West </c:v>
                </c:pt>
              </c:strCache>
            </c:strRef>
          </c:tx>
          <c:spPr>
            <a:ln w="28575" cap="rnd">
              <a:solidFill>
                <a:schemeClr val="accent3">
                  <a:lumMod val="75000"/>
                </a:schemeClr>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nps_monthly_visits!$J$4:$J$16</c:f>
              <c:numCache>
                <c:formatCode>0</c:formatCode>
                <c:ptCount val="12"/>
                <c:pt idx="0">
                  <c:v>3289726</c:v>
                </c:pt>
                <c:pt idx="1">
                  <c:v>3326524</c:v>
                </c:pt>
                <c:pt idx="2">
                  <c:v>3862484</c:v>
                </c:pt>
                <c:pt idx="3">
                  <c:v>4478699</c:v>
                </c:pt>
                <c:pt idx="4">
                  <c:v>5255040</c:v>
                </c:pt>
                <c:pt idx="5">
                  <c:v>6007259</c:v>
                </c:pt>
                <c:pt idx="6">
                  <c:v>7047450</c:v>
                </c:pt>
                <c:pt idx="7">
                  <c:v>6539480</c:v>
                </c:pt>
                <c:pt idx="8">
                  <c:v>5667241</c:v>
                </c:pt>
                <c:pt idx="9">
                  <c:v>4843488</c:v>
                </c:pt>
                <c:pt idx="10">
                  <c:v>3780221</c:v>
                </c:pt>
                <c:pt idx="11">
                  <c:v>3500677</c:v>
                </c:pt>
              </c:numCache>
            </c:numRef>
          </c:val>
          <c:smooth val="0"/>
          <c:extLst>
            <c:ext xmlns:c16="http://schemas.microsoft.com/office/drawing/2014/chart" uri="{C3380CC4-5D6E-409C-BE32-E72D297353CC}">
              <c16:uniqueId val="{00000004-DB58-4926-80C3-B0907C71B141}"/>
            </c:ext>
          </c:extLst>
        </c:ser>
        <c:ser>
          <c:idx val="5"/>
          <c:order val="5"/>
          <c:tx>
            <c:strRef>
              <c:f>nps_monthly_visits!$K$2:$K$3</c:f>
              <c:strCache>
                <c:ptCount val="1"/>
                <c:pt idx="0">
                  <c:v>Southeast </c:v>
                </c:pt>
              </c:strCache>
            </c:strRef>
          </c:tx>
          <c:spPr>
            <a:ln w="28575" cap="rnd">
              <a:solidFill>
                <a:schemeClr val="accent2">
                  <a:lumMod val="10000"/>
                  <a:lumOff val="90000"/>
                </a:schemeClr>
              </a:solidFill>
              <a:round/>
            </a:ln>
            <a:effectLst/>
          </c:spPr>
          <c:marker>
            <c:symbol val="none"/>
          </c:marker>
          <c:cat>
            <c:strRef>
              <c:f>nps_monthly_visits!$E$4:$E$16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nps_monthly_visits!$K$4:$K$16</c:f>
              <c:numCache>
                <c:formatCode>0</c:formatCode>
                <c:ptCount val="12"/>
                <c:pt idx="0">
                  <c:v>3869641</c:v>
                </c:pt>
                <c:pt idx="1">
                  <c:v>4305044</c:v>
                </c:pt>
                <c:pt idx="2">
                  <c:v>5503244</c:v>
                </c:pt>
                <c:pt idx="3">
                  <c:v>6039671</c:v>
                </c:pt>
                <c:pt idx="4">
                  <c:v>6731886</c:v>
                </c:pt>
                <c:pt idx="5">
                  <c:v>7660278</c:v>
                </c:pt>
                <c:pt idx="6">
                  <c:v>8163640</c:v>
                </c:pt>
                <c:pt idx="7">
                  <c:v>7075229</c:v>
                </c:pt>
                <c:pt idx="8">
                  <c:v>6933121</c:v>
                </c:pt>
                <c:pt idx="9">
                  <c:v>7644941</c:v>
                </c:pt>
                <c:pt idx="10">
                  <c:v>5320518</c:v>
                </c:pt>
                <c:pt idx="11">
                  <c:v>4424066</c:v>
                </c:pt>
              </c:numCache>
            </c:numRef>
          </c:val>
          <c:smooth val="0"/>
          <c:extLst>
            <c:ext xmlns:c16="http://schemas.microsoft.com/office/drawing/2014/chart" uri="{C3380CC4-5D6E-409C-BE32-E72D297353CC}">
              <c16:uniqueId val="{00000005-DB58-4926-80C3-B0907C71B141}"/>
            </c:ext>
          </c:extLst>
        </c:ser>
        <c:dLbls>
          <c:showLegendKey val="0"/>
          <c:showVal val="0"/>
          <c:showCatName val="0"/>
          <c:showSerName val="0"/>
          <c:showPercent val="0"/>
          <c:showBubbleSize val="0"/>
        </c:dLbls>
        <c:smooth val="0"/>
        <c:axId val="553715248"/>
        <c:axId val="553717768"/>
      </c:lineChart>
      <c:dateAx>
        <c:axId val="55371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bg1"/>
                </a:solidFill>
                <a:latin typeface="+mn-lt"/>
                <a:ea typeface="+mn-ea"/>
                <a:cs typeface="+mn-cs"/>
              </a:defRPr>
            </a:pPr>
            <a:endParaRPr lang="en-US"/>
          </a:p>
        </c:txPr>
        <c:crossAx val="553717768"/>
        <c:crosses val="autoZero"/>
        <c:auto val="0"/>
        <c:lblOffset val="100"/>
        <c:baseTimeUnit val="days"/>
      </c:dateAx>
      <c:valAx>
        <c:axId val="553717768"/>
        <c:scaling>
          <c:orientation val="minMax"/>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553715248"/>
        <c:crosses val="autoZero"/>
        <c:crossBetween val="between"/>
        <c:dispUnits>
          <c:builtInUnit val="millions"/>
          <c:dispUnitsLbl>
            <c:spPr>
              <a:noFill/>
              <a:ln>
                <a:noFill/>
              </a:ln>
              <a:effectLst/>
            </c:spPr>
            <c:txPr>
              <a:bodyPr rot="-5400000" spcFirstLastPara="1" vertOverflow="ellipsis" vert="horz" wrap="square" anchor="ctr" anchorCtr="1"/>
              <a:lstStyle/>
              <a:p>
                <a:pPr>
                  <a:defRPr lang="en-US" sz="1000" b="0" i="0" u="none" strike="noStrike" kern="1200" baseline="0">
                    <a:solidFill>
                      <a:schemeClr val="bg1"/>
                    </a:solidFill>
                    <a:latin typeface="+mn-lt"/>
                    <a:ea typeface="+mn-ea"/>
                    <a:cs typeface="+mn-cs"/>
                  </a:defRPr>
                </a:pPr>
                <a:endParaRPr lang="en-US"/>
              </a:p>
            </c:txPr>
          </c:dispUnitsLbl>
        </c:dispUnits>
      </c:valAx>
      <c:spPr>
        <a:noFill/>
        <a:ln>
          <a:noFill/>
        </a:ln>
        <a:effectLst/>
      </c:spPr>
    </c:plotArea>
    <c:legend>
      <c:legendPos val="t"/>
      <c:layout>
        <c:manualLayout>
          <c:xMode val="edge"/>
          <c:yMode val="edge"/>
          <c:x val="0.69297530172522293"/>
          <c:y val="5.8992602163324109E-2"/>
          <c:w val="0.30702469827477707"/>
          <c:h val="0.341547871549772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Sheet1!$A$2</c:f>
              <c:strCache>
                <c:ptCount val="1"/>
                <c:pt idx="0">
                  <c:v>SpaCy</c:v>
                </c:pt>
              </c:strCache>
            </c:strRef>
          </c:tx>
          <c:spPr>
            <a:solidFill>
              <a:schemeClr val="accent6"/>
            </a:solidFill>
            <a:ln>
              <a:noFill/>
            </a:ln>
            <a:effectLst/>
          </c:spPr>
          <c:invertIfNegative val="0"/>
          <c:cat>
            <c:strRef>
              <c:f>Sheet1!$B$1:$D$1</c:f>
              <c:strCache>
                <c:ptCount val="3"/>
                <c:pt idx="0">
                  <c:v>Intent</c:v>
                </c:pt>
                <c:pt idx="1">
                  <c:v>Endpoint</c:v>
                </c:pt>
                <c:pt idx="2">
                  <c:v>Parkcode</c:v>
                </c:pt>
              </c:strCache>
            </c:strRef>
          </c:cat>
          <c:val>
            <c:numRef>
              <c:f>Sheet1!$B$2:$D$2</c:f>
              <c:numCache>
                <c:formatCode>General</c:formatCode>
                <c:ptCount val="3"/>
                <c:pt idx="0">
                  <c:v>6.25E-2</c:v>
                </c:pt>
                <c:pt idx="1">
                  <c:v>0.34375</c:v>
                </c:pt>
                <c:pt idx="2">
                  <c:v>0.528331</c:v>
                </c:pt>
              </c:numCache>
            </c:numRef>
          </c:val>
          <c:extLst>
            <c:ext xmlns:c16="http://schemas.microsoft.com/office/drawing/2014/chart" uri="{C3380CC4-5D6E-409C-BE32-E72D297353CC}">
              <c16:uniqueId val="{00000000-7D65-4019-9A02-D97277BBC9D4}"/>
            </c:ext>
          </c:extLst>
        </c:ser>
        <c:ser>
          <c:idx val="1"/>
          <c:order val="1"/>
          <c:tx>
            <c:strRef>
              <c:f>Sheet1!$A$3</c:f>
              <c:strCache>
                <c:ptCount val="1"/>
                <c:pt idx="0">
                  <c:v>GPT</c:v>
                </c:pt>
              </c:strCache>
            </c:strRef>
          </c:tx>
          <c:spPr>
            <a:solidFill>
              <a:schemeClr val="accent5"/>
            </a:solidFill>
            <a:ln>
              <a:noFill/>
            </a:ln>
            <a:effectLst/>
          </c:spPr>
          <c:invertIfNegative val="0"/>
          <c:cat>
            <c:strRef>
              <c:f>Sheet1!$B$1:$D$1</c:f>
              <c:strCache>
                <c:ptCount val="3"/>
                <c:pt idx="0">
                  <c:v>Intent</c:v>
                </c:pt>
                <c:pt idx="1">
                  <c:v>Endpoint</c:v>
                </c:pt>
                <c:pt idx="2">
                  <c:v>Parkcode</c:v>
                </c:pt>
              </c:strCache>
            </c:strRef>
          </c:cat>
          <c:val>
            <c:numRef>
              <c:f>Sheet1!$B$3:$D$3</c:f>
              <c:numCache>
                <c:formatCode>General</c:formatCode>
                <c:ptCount val="3"/>
                <c:pt idx="0">
                  <c:v>0.93540999999999996</c:v>
                </c:pt>
                <c:pt idx="1">
                  <c:v>0.84345099999999995</c:v>
                </c:pt>
                <c:pt idx="2">
                  <c:v>0.95538100000000004</c:v>
                </c:pt>
              </c:numCache>
            </c:numRef>
          </c:val>
          <c:extLst>
            <c:ext xmlns:c16="http://schemas.microsoft.com/office/drawing/2014/chart" uri="{C3380CC4-5D6E-409C-BE32-E72D297353CC}">
              <c16:uniqueId val="{00000001-7D65-4019-9A02-D97277BBC9D4}"/>
            </c:ext>
          </c:extLst>
        </c:ser>
        <c:ser>
          <c:idx val="2"/>
          <c:order val="2"/>
          <c:tx>
            <c:strRef>
              <c:f>Sheet1!$A$4</c:f>
              <c:strCache>
                <c:ptCount val="1"/>
                <c:pt idx="0">
                  <c:v>GaussianNB</c:v>
                </c:pt>
              </c:strCache>
            </c:strRef>
          </c:tx>
          <c:spPr>
            <a:solidFill>
              <a:schemeClr val="accent2"/>
            </a:solidFill>
            <a:ln>
              <a:noFill/>
            </a:ln>
            <a:effectLst/>
          </c:spPr>
          <c:invertIfNegative val="0"/>
          <c:cat>
            <c:strRef>
              <c:f>Sheet1!$B$1:$D$1</c:f>
              <c:strCache>
                <c:ptCount val="3"/>
                <c:pt idx="0">
                  <c:v>Intent</c:v>
                </c:pt>
                <c:pt idx="1">
                  <c:v>Endpoint</c:v>
                </c:pt>
                <c:pt idx="2">
                  <c:v>Parkcode</c:v>
                </c:pt>
              </c:strCache>
            </c:strRef>
          </c:cat>
          <c:val>
            <c:numRef>
              <c:f>Sheet1!$B$4:$D$4</c:f>
              <c:numCache>
                <c:formatCode>General</c:formatCode>
                <c:ptCount val="3"/>
                <c:pt idx="0">
                  <c:v>0.90571900000000005</c:v>
                </c:pt>
                <c:pt idx="1">
                  <c:v>0.99976799999999999</c:v>
                </c:pt>
                <c:pt idx="2">
                  <c:v>0.99107599999999996</c:v>
                </c:pt>
              </c:numCache>
            </c:numRef>
          </c:val>
          <c:extLst>
            <c:ext xmlns:c16="http://schemas.microsoft.com/office/drawing/2014/chart" uri="{C3380CC4-5D6E-409C-BE32-E72D297353CC}">
              <c16:uniqueId val="{00000002-7D65-4019-9A02-D97277BBC9D4}"/>
            </c:ext>
          </c:extLst>
        </c:ser>
        <c:dLbls>
          <c:showLegendKey val="0"/>
          <c:showVal val="0"/>
          <c:showCatName val="0"/>
          <c:showSerName val="0"/>
          <c:showPercent val="0"/>
          <c:showBubbleSize val="0"/>
        </c:dLbls>
        <c:gapWidth val="100"/>
        <c:overlap val="-16"/>
        <c:axId val="468199712"/>
        <c:axId val="534505448"/>
      </c:barChart>
      <c:catAx>
        <c:axId val="46819971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bg1"/>
                </a:solidFill>
                <a:latin typeface="+mn-lt"/>
                <a:ea typeface="+mn-ea"/>
                <a:cs typeface="+mn-cs"/>
              </a:defRPr>
            </a:pPr>
            <a:endParaRPr lang="en-US"/>
          </a:p>
        </c:txPr>
        <c:crossAx val="534505448"/>
        <c:crosses val="autoZero"/>
        <c:auto val="1"/>
        <c:lblAlgn val="ctr"/>
        <c:lblOffset val="100"/>
        <c:noMultiLvlLbl val="0"/>
      </c:catAx>
      <c:valAx>
        <c:axId val="534505448"/>
        <c:scaling>
          <c:orientation val="minMax"/>
          <c:max val="1"/>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468199712"/>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42861237465788005"/>
          <c:y val="3.2047108249050354E-2"/>
          <c:w val="0.49439564375255057"/>
          <c:h val="0.116820863757615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04ED7-C171-4668-AEE7-B3AEBA5DB69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7635E4C-2379-4E45-B9B2-E43EC61316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56B3A9-68BD-4D54-A0BB-B455B6E4AFF4}" type="datetimeFigureOut">
              <a:rPr lang="en-US" smtClean="0"/>
              <a:t>8/7/2024</a:t>
            </a:fld>
            <a:endParaRPr lang="en-US" dirty="0"/>
          </a:p>
        </p:txBody>
      </p:sp>
      <p:sp>
        <p:nvSpPr>
          <p:cNvPr id="4" name="Footer Placeholder 3">
            <a:extLst>
              <a:ext uri="{FF2B5EF4-FFF2-40B4-BE49-F238E27FC236}">
                <a16:creationId xmlns:a16="http://schemas.microsoft.com/office/drawing/2014/main" id="{21FA3918-8F7A-4B64-907B-42E48B5EC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B08035E-8EB8-4C2B-9094-10B4CFAE37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0AA0A-5135-415D-A092-FA0C46B8AC3C}" type="slidenum">
              <a:rPr lang="en-US" smtClean="0"/>
              <a:t>‹#›</a:t>
            </a:fld>
            <a:endParaRPr lang="en-US" dirty="0"/>
          </a:p>
        </p:txBody>
      </p:sp>
    </p:spTree>
    <p:extLst>
      <p:ext uri="{BB962C8B-B14F-4D97-AF65-F5344CB8AC3E}">
        <p14:creationId xmlns:p14="http://schemas.microsoft.com/office/powerpoint/2010/main" val="1475814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816F1-3F18-45AF-B31A-ADFF417588A1}" type="datetimeFigureOut">
              <a:rPr lang="en-US" smtClean="0"/>
              <a:t>8/7/2024</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81861C-5139-457C-970B-278F1608A4E9}" type="slidenum">
              <a:rPr lang="en-US" smtClean="0"/>
              <a:t>‹#›</a:t>
            </a:fld>
            <a:endParaRPr lang="en-US" dirty="0"/>
          </a:p>
        </p:txBody>
      </p:sp>
    </p:spTree>
    <p:extLst>
      <p:ext uri="{BB962C8B-B14F-4D97-AF65-F5344CB8AC3E}">
        <p14:creationId xmlns:p14="http://schemas.microsoft.com/office/powerpoint/2010/main" val="1127865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98A818-8998-4A9C-923A-0245B6C3B81B}"/>
              </a:ext>
              <a:ext uri="{C183D7F6-B498-43B3-948B-1728B52AA6E4}">
                <adec:decorative xmlns:adec="http://schemas.microsoft.com/office/drawing/2017/decorative" val="1"/>
              </a:ext>
            </a:extLst>
          </p:cNvPr>
          <p:cNvSpPr/>
          <p:nvPr userDrawn="1"/>
        </p:nvSpPr>
        <p:spPr>
          <a:xfrm>
            <a:off x="3672134" y="7500627"/>
            <a:ext cx="3859066" cy="231657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01C48D9-0A15-4736-BF9A-5E32106AC8CC}"/>
              </a:ext>
              <a:ext uri="{C183D7F6-B498-43B3-948B-1728B52AA6E4}">
                <adec:decorative xmlns:adec="http://schemas.microsoft.com/office/drawing/2017/decorative" val="1"/>
              </a:ext>
            </a:extLst>
          </p:cNvPr>
          <p:cNvSpPr/>
          <p:nvPr userDrawn="1"/>
        </p:nvSpPr>
        <p:spPr>
          <a:xfrm>
            <a:off x="1797137" y="1240056"/>
            <a:ext cx="1827307" cy="38198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94BC47A-9910-48E8-AE5A-2BBB1990171A}"/>
              </a:ext>
              <a:ext uri="{C183D7F6-B498-43B3-948B-1728B52AA6E4}">
                <adec:decorative xmlns:adec="http://schemas.microsoft.com/office/drawing/2017/decorative" val="1"/>
              </a:ext>
            </a:extLst>
          </p:cNvPr>
          <p:cNvSpPr/>
          <p:nvPr userDrawn="1"/>
        </p:nvSpPr>
        <p:spPr>
          <a:xfrm>
            <a:off x="3672134" y="5105745"/>
            <a:ext cx="3859066" cy="234908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C2DCCB1-B9FD-4B0F-884F-5AEE7D43ECC4}"/>
              </a:ext>
              <a:ext uri="{C183D7F6-B498-43B3-948B-1728B52AA6E4}">
                <adec:decorative xmlns:adec="http://schemas.microsoft.com/office/drawing/2017/decorative" val="1"/>
              </a:ext>
            </a:extLst>
          </p:cNvPr>
          <p:cNvSpPr/>
          <p:nvPr userDrawn="1"/>
        </p:nvSpPr>
        <p:spPr>
          <a:xfrm>
            <a:off x="3672134" y="1247167"/>
            <a:ext cx="3859066" cy="3812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32F5691-9268-4084-9D4D-F78F55D0D980}"/>
              </a:ext>
              <a:ext uri="{C183D7F6-B498-43B3-948B-1728B52AA6E4}">
                <adec:decorative xmlns:adec="http://schemas.microsoft.com/office/drawing/2017/decorative" val="1"/>
              </a:ext>
            </a:extLst>
          </p:cNvPr>
          <p:cNvSpPr/>
          <p:nvPr userDrawn="1"/>
        </p:nvSpPr>
        <p:spPr>
          <a:xfrm>
            <a:off x="1797137" y="5105745"/>
            <a:ext cx="1828800" cy="235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6B92A22-5DF3-4C60-A7C1-F99B61174DE5}"/>
              </a:ext>
              <a:ext uri="{C183D7F6-B498-43B3-948B-1728B52AA6E4}">
                <adec:decorative xmlns:adec="http://schemas.microsoft.com/office/drawing/2017/decorative" val="1"/>
              </a:ext>
            </a:extLst>
          </p:cNvPr>
          <p:cNvSpPr/>
          <p:nvPr userDrawn="1"/>
        </p:nvSpPr>
        <p:spPr>
          <a:xfrm>
            <a:off x="241200" y="1240057"/>
            <a:ext cx="1508247" cy="62147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FEDA109-D0F6-4624-AB2A-68612A434AC7}"/>
              </a:ext>
              <a:ext uri="{C183D7F6-B498-43B3-948B-1728B52AA6E4}">
                <adec:decorative xmlns:adec="http://schemas.microsoft.com/office/drawing/2017/decorative" val="1"/>
              </a:ext>
            </a:extLst>
          </p:cNvPr>
          <p:cNvSpPr/>
          <p:nvPr userDrawn="1"/>
        </p:nvSpPr>
        <p:spPr>
          <a:xfrm>
            <a:off x="1797137" y="7505706"/>
            <a:ext cx="1828800" cy="23114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27312CF2-A1E9-4331-A520-21B4E20C2F7A}"/>
              </a:ext>
              <a:ext uri="{C183D7F6-B498-43B3-948B-1728B52AA6E4}">
                <adec:decorative xmlns:adec="http://schemas.microsoft.com/office/drawing/2017/decorative" val="1"/>
              </a:ext>
            </a:extLst>
          </p:cNvPr>
          <p:cNvCxnSpPr>
            <a:cxnSpLocks/>
          </p:cNvCxnSpPr>
          <p:nvPr userDrawn="1"/>
        </p:nvCxnSpPr>
        <p:spPr>
          <a:xfrm>
            <a:off x="1928240" y="7932941"/>
            <a:ext cx="0" cy="1802868"/>
          </a:xfrm>
          <a:prstGeom prst="line">
            <a:avLst/>
          </a:prstGeom>
          <a:ln w="25400" cap="rnd">
            <a:solidFill>
              <a:schemeClr val="accent1">
                <a:lumMod val="60000"/>
                <a:lumOff val="40000"/>
              </a:schemeClr>
            </a:solidFill>
            <a:prstDash val="sysDot"/>
            <a:round/>
            <a:tailEnd type="triangle" w="sm" len="sm"/>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D2C7898-64D2-4E95-8919-58011D2B8208}"/>
              </a:ext>
              <a:ext uri="{C183D7F6-B498-43B3-948B-1728B52AA6E4}">
                <adec:decorative xmlns:adec="http://schemas.microsoft.com/office/drawing/2017/decorative" val="1"/>
              </a:ext>
            </a:extLst>
          </p:cNvPr>
          <p:cNvSpPr/>
          <p:nvPr userDrawn="1"/>
        </p:nvSpPr>
        <p:spPr>
          <a:xfrm>
            <a:off x="241200" y="241200"/>
            <a:ext cx="7290000" cy="9629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a:xfrm>
            <a:off x="534353" y="9322650"/>
            <a:ext cx="1748790" cy="535516"/>
          </a:xfrm>
          <a:prstGeom prst="rect">
            <a:avLst/>
          </a:prstGeom>
        </p:spPr>
        <p:txBody>
          <a:bodyPr/>
          <a:lstStyle/>
          <a:p>
            <a:fld id="{A8FAED0E-297D-480F-9176-00B6D6CDE081}" type="datetimeFigureOut">
              <a:rPr lang="en-US" noProof="0" smtClean="0"/>
              <a:t>8/7/2024</a:t>
            </a:fld>
            <a:endParaRPr lang="en-US" noProof="0" dirty="0"/>
          </a:p>
        </p:txBody>
      </p:sp>
      <p:sp>
        <p:nvSpPr>
          <p:cNvPr id="3" name="Footer Placeholder 2"/>
          <p:cNvSpPr>
            <a:spLocks noGrp="1"/>
          </p:cNvSpPr>
          <p:nvPr>
            <p:ph type="ftr" sz="quarter" idx="11"/>
          </p:nvPr>
        </p:nvSpPr>
        <p:spPr>
          <a:xfrm>
            <a:off x="2574609" y="9322650"/>
            <a:ext cx="2623185" cy="535516"/>
          </a:xfrm>
          <a:prstGeom prst="rect">
            <a:avLst/>
          </a:prstGeom>
        </p:spPr>
        <p:txBody>
          <a:bodyPr/>
          <a:lstStyle/>
          <a:p>
            <a:endParaRPr lang="en-US" noProof="0" dirty="0"/>
          </a:p>
        </p:txBody>
      </p:sp>
      <p:sp>
        <p:nvSpPr>
          <p:cNvPr id="4" name="Slide Number Placeholder 3"/>
          <p:cNvSpPr>
            <a:spLocks noGrp="1"/>
          </p:cNvSpPr>
          <p:nvPr>
            <p:ph type="sldNum" sz="quarter" idx="12"/>
          </p:nvPr>
        </p:nvSpPr>
        <p:spPr/>
        <p:txBody>
          <a:bodyPr/>
          <a:lstStyle/>
          <a:p>
            <a:fld id="{D518928D-FFF6-43DC-9917-6D83E7075E8A}" type="slidenum">
              <a:rPr lang="en-US" noProof="0" smtClean="0"/>
              <a:t>‹#›</a:t>
            </a:fld>
            <a:endParaRPr lang="en-US" noProof="0" dirty="0"/>
          </a:p>
        </p:txBody>
      </p:sp>
      <p:sp>
        <p:nvSpPr>
          <p:cNvPr id="5" name="Title 4">
            <a:extLst>
              <a:ext uri="{FF2B5EF4-FFF2-40B4-BE49-F238E27FC236}">
                <a16:creationId xmlns:a16="http://schemas.microsoft.com/office/drawing/2014/main" id="{11310CCD-5E5B-4F7B-B7B1-EE3E23F3DCF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3024683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CBEDFA-5BC0-4184-8A10-AED13FD3EA6E}"/>
              </a:ext>
            </a:extLst>
          </p:cNvPr>
          <p:cNvSpPr/>
          <p:nvPr userDrawn="1"/>
        </p:nvSpPr>
        <p:spPr>
          <a:xfrm>
            <a:off x="241200" y="241200"/>
            <a:ext cx="7290000" cy="9576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p:cNvSpPr>
            <a:spLocks noGrp="1"/>
          </p:cNvSpPr>
          <p:nvPr>
            <p:ph type="title"/>
          </p:nvPr>
        </p:nvSpPr>
        <p:spPr>
          <a:xfrm>
            <a:off x="534354" y="535521"/>
            <a:ext cx="6703695" cy="973240"/>
          </a:xfrm>
          <a:prstGeom prst="rect">
            <a:avLst/>
          </a:prstGeom>
        </p:spPr>
        <p:txBody>
          <a:bodyPr vert="horz" lIns="0" tIns="0" rIns="0" bIns="0" rtlCol="0" anchor="t">
            <a:noAutofit/>
          </a:bodyPr>
          <a:lstStyle/>
          <a:p>
            <a:r>
              <a:rPr lang="en-US" noProof="0"/>
              <a:t>Click to edit Master title style</a:t>
            </a:r>
          </a:p>
        </p:txBody>
      </p:sp>
      <p:sp>
        <p:nvSpPr>
          <p:cNvPr id="3" name="Text Placeholder 2"/>
          <p:cNvSpPr>
            <a:spLocks noGrp="1"/>
          </p:cNvSpPr>
          <p:nvPr>
            <p:ph type="body" idx="1"/>
          </p:nvPr>
        </p:nvSpPr>
        <p:spPr>
          <a:xfrm>
            <a:off x="534354" y="1785366"/>
            <a:ext cx="6703695" cy="7537284"/>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p:cNvSpPr>
            <a:spLocks noGrp="1"/>
          </p:cNvSpPr>
          <p:nvPr>
            <p:ph type="sldNum" sz="quarter" idx="4"/>
          </p:nvPr>
        </p:nvSpPr>
        <p:spPr>
          <a:xfrm>
            <a:off x="7238048" y="9599255"/>
            <a:ext cx="272034" cy="258911"/>
          </a:xfrm>
          <a:prstGeom prst="rect">
            <a:avLst/>
          </a:prstGeom>
        </p:spPr>
        <p:txBody>
          <a:bodyPr vert="horz" lIns="0" tIns="0" rIns="0" bIns="0" rtlCol="0" anchor="ctr"/>
          <a:lstStyle>
            <a:lvl1pPr algn="ctr">
              <a:defRPr sz="990">
                <a:solidFill>
                  <a:schemeClr val="bg1"/>
                </a:solidFill>
              </a:defRPr>
            </a:lvl1pPr>
          </a:lstStyle>
          <a:p>
            <a:fld id="{D518928D-FFF6-43DC-9917-6D83E7075E8A}" type="slidenum">
              <a:rPr lang="en-US" noProof="0" smtClean="0"/>
              <a:t>‹#›</a:t>
            </a:fld>
            <a:endParaRPr lang="en-US" noProof="0" dirty="0"/>
          </a:p>
        </p:txBody>
      </p:sp>
    </p:spTree>
    <p:extLst>
      <p:ext uri="{BB962C8B-B14F-4D97-AF65-F5344CB8AC3E}">
        <p14:creationId xmlns:p14="http://schemas.microsoft.com/office/powerpoint/2010/main" val="1630691542"/>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754380" rtl="0" eaLnBrk="1" latinLnBrk="0" hangingPunct="1">
        <a:lnSpc>
          <a:spcPct val="90000"/>
        </a:lnSpc>
        <a:spcBef>
          <a:spcPct val="0"/>
        </a:spcBef>
        <a:buNone/>
        <a:defRPr sz="3630" b="1" kern="1200" spc="-150">
          <a:solidFill>
            <a:schemeClr val="accent2"/>
          </a:solidFill>
          <a:latin typeface="+mj-lt"/>
          <a:ea typeface="+mj-ea"/>
          <a:cs typeface="+mj-cs"/>
        </a:defRPr>
      </a:lvl1pPr>
    </p:titleStyle>
    <p:bodyStyle>
      <a:lvl1pPr marL="188595" indent="-188595" algn="l" defTabSz="754380" rtl="0" eaLnBrk="1" latinLnBrk="0" hangingPunct="1">
        <a:lnSpc>
          <a:spcPct val="90000"/>
        </a:lnSpc>
        <a:spcBef>
          <a:spcPts val="825"/>
        </a:spcBef>
        <a:buClr>
          <a:schemeClr val="accent3"/>
        </a:buClr>
        <a:buFont typeface="Arial" panose="020B0604020202020204" pitchFamily="34" charset="0"/>
        <a:buChar char="•"/>
        <a:defRPr sz="2310" kern="1200">
          <a:solidFill>
            <a:schemeClr val="accent2"/>
          </a:solidFill>
          <a:latin typeface="+mn-lt"/>
          <a:ea typeface="+mn-ea"/>
          <a:cs typeface="+mn-cs"/>
        </a:defRPr>
      </a:lvl1pPr>
      <a:lvl2pPr marL="565785" indent="-188595" algn="l" defTabSz="754380" rtl="0" eaLnBrk="1" latinLnBrk="0" hangingPunct="1">
        <a:lnSpc>
          <a:spcPct val="90000"/>
        </a:lnSpc>
        <a:spcBef>
          <a:spcPts val="413"/>
        </a:spcBef>
        <a:buClr>
          <a:schemeClr val="accent3"/>
        </a:buClr>
        <a:buFont typeface="Arial" panose="020B0604020202020204" pitchFamily="34" charset="0"/>
        <a:buChar char="•"/>
        <a:defRPr sz="1980" kern="1200">
          <a:solidFill>
            <a:schemeClr val="accent2"/>
          </a:solidFill>
          <a:latin typeface="+mn-lt"/>
          <a:ea typeface="+mn-ea"/>
          <a:cs typeface="+mn-cs"/>
        </a:defRPr>
      </a:lvl2pPr>
      <a:lvl3pPr marL="942975" indent="-188595" algn="l" defTabSz="754380" rtl="0" eaLnBrk="1" latinLnBrk="0" hangingPunct="1">
        <a:lnSpc>
          <a:spcPct val="90000"/>
        </a:lnSpc>
        <a:spcBef>
          <a:spcPts val="413"/>
        </a:spcBef>
        <a:buClr>
          <a:schemeClr val="accent3"/>
        </a:buClr>
        <a:buFont typeface="Arial" panose="020B0604020202020204" pitchFamily="34" charset="0"/>
        <a:buChar char="•"/>
        <a:defRPr sz="1650" kern="1200">
          <a:solidFill>
            <a:schemeClr val="accent2"/>
          </a:solidFill>
          <a:latin typeface="+mn-lt"/>
          <a:ea typeface="+mn-ea"/>
          <a:cs typeface="+mn-cs"/>
        </a:defRPr>
      </a:lvl3pPr>
      <a:lvl4pPr marL="1320165" indent="-188595" algn="l" defTabSz="754380" rtl="0" eaLnBrk="1" latinLnBrk="0" hangingPunct="1">
        <a:lnSpc>
          <a:spcPct val="90000"/>
        </a:lnSpc>
        <a:spcBef>
          <a:spcPts val="413"/>
        </a:spcBef>
        <a:buClr>
          <a:schemeClr val="accent3"/>
        </a:buClr>
        <a:buFont typeface="Arial" panose="020B0604020202020204" pitchFamily="34" charset="0"/>
        <a:buChar char="•"/>
        <a:defRPr sz="1485" kern="1200">
          <a:solidFill>
            <a:schemeClr val="accent2"/>
          </a:solidFill>
          <a:latin typeface="+mn-lt"/>
          <a:ea typeface="+mn-ea"/>
          <a:cs typeface="+mn-cs"/>
        </a:defRPr>
      </a:lvl4pPr>
      <a:lvl5pPr marL="1697355" indent="-188595" algn="l" defTabSz="754380" rtl="0" eaLnBrk="1" latinLnBrk="0" hangingPunct="1">
        <a:lnSpc>
          <a:spcPct val="90000"/>
        </a:lnSpc>
        <a:spcBef>
          <a:spcPts val="413"/>
        </a:spcBef>
        <a:buClr>
          <a:schemeClr val="accent3"/>
        </a:buClr>
        <a:buFont typeface="Arial" panose="020B0604020202020204" pitchFamily="34" charset="0"/>
        <a:buChar char="•"/>
        <a:defRPr sz="1485" kern="1200">
          <a:solidFill>
            <a:schemeClr val="accent2"/>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0.png"/><Relationship Id="rId18" Type="http://schemas.openxmlformats.org/officeDocument/2006/relationships/image" Target="../media/image13.png"/><Relationship Id="rId26" Type="http://schemas.openxmlformats.org/officeDocument/2006/relationships/image" Target="../media/image19.png"/><Relationship Id="rId3" Type="http://schemas.openxmlformats.org/officeDocument/2006/relationships/image" Target="../media/image2.png"/><Relationship Id="rId21" Type="http://schemas.openxmlformats.org/officeDocument/2006/relationships/chart" Target="../charts/chart1.xml"/><Relationship Id="rId7" Type="http://schemas.openxmlformats.org/officeDocument/2006/relationships/image" Target="../media/image6.png"/><Relationship Id="rId12" Type="http://schemas.microsoft.com/office/2007/relationships/hdphoto" Target="../media/hdphoto2.wdp"/><Relationship Id="rId17" Type="http://schemas.microsoft.com/office/2007/relationships/hdphoto" Target="../media/hdphoto4.wdp"/><Relationship Id="rId25"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12.png"/><Relationship Id="rId20" Type="http://schemas.openxmlformats.org/officeDocument/2006/relationships/image" Target="../media/image14.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9.png"/><Relationship Id="rId24" Type="http://schemas.openxmlformats.org/officeDocument/2006/relationships/image" Target="../media/image17.png"/><Relationship Id="rId5" Type="http://schemas.openxmlformats.org/officeDocument/2006/relationships/image" Target="../media/image4.png"/><Relationship Id="rId15" Type="http://schemas.microsoft.com/office/2007/relationships/hdphoto" Target="../media/hdphoto3.wdp"/><Relationship Id="rId23" Type="http://schemas.openxmlformats.org/officeDocument/2006/relationships/image" Target="../media/image16.png"/><Relationship Id="rId28" Type="http://schemas.openxmlformats.org/officeDocument/2006/relationships/image" Target="../media/image20.png"/><Relationship Id="rId10" Type="http://schemas.microsoft.com/office/2007/relationships/hdphoto" Target="../media/hdphoto1.wdp"/><Relationship Id="rId19" Type="http://schemas.microsoft.com/office/2007/relationships/hdphoto" Target="../media/hdphoto5.wdp"/><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1.png"/><Relationship Id="rId22" Type="http://schemas.openxmlformats.org/officeDocument/2006/relationships/image" Target="../media/image15.png"/><Relationship Id="rId27" Type="http://schemas.openxmlformats.org/officeDocument/2006/relationships/chart" Target="../charts/chart2.xml"/><Relationship Id="rId30"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6A131570-FA92-F652-F2CF-393E58C6C7BB}"/>
              </a:ext>
            </a:extLst>
          </p:cNvPr>
          <p:cNvPicPr>
            <a:picLocks noChangeAspect="1"/>
          </p:cNvPicPr>
          <p:nvPr/>
        </p:nvPicPr>
        <p:blipFill rotWithShape="1">
          <a:blip r:embed="rId2"/>
          <a:srcRect t="6782"/>
          <a:stretch/>
        </p:blipFill>
        <p:spPr>
          <a:xfrm>
            <a:off x="3667366" y="1249361"/>
            <a:ext cx="3863857" cy="3813301"/>
          </a:xfrm>
          <a:prstGeom prst="rect">
            <a:avLst/>
          </a:prstGeom>
        </p:spPr>
      </p:pic>
      <p:pic>
        <p:nvPicPr>
          <p:cNvPr id="62" name="Picture 61">
            <a:extLst>
              <a:ext uri="{FF2B5EF4-FFF2-40B4-BE49-F238E27FC236}">
                <a16:creationId xmlns:a16="http://schemas.microsoft.com/office/drawing/2014/main" id="{8A6CFBE3-C564-621E-D86F-8393D0918BE6}"/>
              </a:ext>
            </a:extLst>
          </p:cNvPr>
          <p:cNvPicPr>
            <a:picLocks noChangeAspect="1"/>
          </p:cNvPicPr>
          <p:nvPr/>
        </p:nvPicPr>
        <p:blipFill>
          <a:blip r:embed="rId3"/>
          <a:stretch>
            <a:fillRect/>
          </a:stretch>
        </p:blipFill>
        <p:spPr>
          <a:xfrm>
            <a:off x="4290336" y="3268555"/>
            <a:ext cx="872983" cy="695546"/>
          </a:xfrm>
          <a:prstGeom prst="rect">
            <a:avLst/>
          </a:prstGeom>
        </p:spPr>
      </p:pic>
      <p:grpSp>
        <p:nvGrpSpPr>
          <p:cNvPr id="28" name="Group 27">
            <a:extLst>
              <a:ext uri="{FF2B5EF4-FFF2-40B4-BE49-F238E27FC236}">
                <a16:creationId xmlns:a16="http://schemas.microsoft.com/office/drawing/2014/main" id="{C064FC18-EADC-0DE5-AB17-653DD2EFA37C}"/>
              </a:ext>
            </a:extLst>
          </p:cNvPr>
          <p:cNvGrpSpPr/>
          <p:nvPr/>
        </p:nvGrpSpPr>
        <p:grpSpPr>
          <a:xfrm>
            <a:off x="4560967" y="3066113"/>
            <a:ext cx="1357337" cy="1385340"/>
            <a:chOff x="1979259" y="3440671"/>
            <a:chExt cx="1357337" cy="1385340"/>
          </a:xfrm>
        </p:grpSpPr>
        <p:sp>
          <p:nvSpPr>
            <p:cNvPr id="30" name="TextBox 29">
              <a:extLst>
                <a:ext uri="{FF2B5EF4-FFF2-40B4-BE49-F238E27FC236}">
                  <a16:creationId xmlns:a16="http://schemas.microsoft.com/office/drawing/2014/main" id="{490DD995-58B4-9DBB-5A21-37942EE1A2FA}"/>
                </a:ext>
              </a:extLst>
            </p:cNvPr>
            <p:cNvSpPr txBox="1"/>
            <p:nvPr/>
          </p:nvSpPr>
          <p:spPr>
            <a:xfrm>
              <a:off x="2059237" y="3440671"/>
              <a:ext cx="1172583" cy="1001871"/>
            </a:xfrm>
            <a:prstGeom prst="rect">
              <a:avLst/>
            </a:prstGeom>
            <a:noFill/>
          </p:spPr>
          <p:txBody>
            <a:bodyPr wrap="square" lIns="0" tIns="0" rIns="0" bIns="0" rtlCol="0">
              <a:noAutofit/>
            </a:bodyPr>
            <a:lstStyle/>
            <a:p>
              <a:pPr>
                <a:lnSpc>
                  <a:spcPts val="10500"/>
                </a:lnSpc>
              </a:pPr>
              <a:r>
                <a:rPr lang="en-US" sz="6600" b="1" spc="-150" dirty="0">
                  <a:solidFill>
                    <a:schemeClr val="accent2"/>
                  </a:solidFill>
                  <a:latin typeface="+mj-lt"/>
                </a:rPr>
                <a:t>82</a:t>
              </a:r>
              <a:r>
                <a:rPr lang="en-US" sz="3200" b="1" spc="-150" dirty="0">
                  <a:solidFill>
                    <a:schemeClr val="accent2"/>
                  </a:solidFill>
                  <a:latin typeface="+mj-lt"/>
                </a:rPr>
                <a:t>k</a:t>
              </a:r>
              <a:r>
                <a:rPr lang="en-US" sz="6600" b="1" spc="-150" dirty="0">
                  <a:solidFill>
                    <a:schemeClr val="accent2"/>
                  </a:solidFill>
                  <a:latin typeface="+mj-lt"/>
                </a:rPr>
                <a:t> </a:t>
              </a:r>
            </a:p>
          </p:txBody>
        </p:sp>
        <p:sp>
          <p:nvSpPr>
            <p:cNvPr id="36" name="TextBox 35">
              <a:extLst>
                <a:ext uri="{FF2B5EF4-FFF2-40B4-BE49-F238E27FC236}">
                  <a16:creationId xmlns:a16="http://schemas.microsoft.com/office/drawing/2014/main" id="{30D59C7A-0318-78B0-9283-163B722282EB}"/>
                </a:ext>
              </a:extLst>
            </p:cNvPr>
            <p:cNvSpPr txBox="1"/>
            <p:nvPr/>
          </p:nvSpPr>
          <p:spPr>
            <a:xfrm>
              <a:off x="1979259" y="4364346"/>
              <a:ext cx="1357337" cy="461665"/>
            </a:xfrm>
            <a:prstGeom prst="rect">
              <a:avLst/>
            </a:prstGeom>
            <a:noFill/>
          </p:spPr>
          <p:txBody>
            <a:bodyPr wrap="square">
              <a:spAutoFit/>
            </a:bodyPr>
            <a:lstStyle/>
            <a:p>
              <a:pPr algn="ctr"/>
              <a:r>
                <a:rPr lang="en-US" sz="2400" b="1" spc="-150" dirty="0">
                  <a:solidFill>
                    <a:schemeClr val="accent2"/>
                  </a:solidFill>
                  <a:latin typeface="+mj-lt"/>
                </a:rPr>
                <a:t>Queries</a:t>
              </a:r>
              <a:endParaRPr lang="en-US" dirty="0"/>
            </a:p>
          </p:txBody>
        </p:sp>
      </p:grpSp>
      <p:sp>
        <p:nvSpPr>
          <p:cNvPr id="27" name="Rectangle 26">
            <a:extLst>
              <a:ext uri="{FF2B5EF4-FFF2-40B4-BE49-F238E27FC236}">
                <a16:creationId xmlns:a16="http://schemas.microsoft.com/office/drawing/2014/main" id="{54F71022-9A74-F378-D729-24A9829E6E74}"/>
              </a:ext>
            </a:extLst>
          </p:cNvPr>
          <p:cNvSpPr/>
          <p:nvPr/>
        </p:nvSpPr>
        <p:spPr>
          <a:xfrm>
            <a:off x="1792135" y="3512062"/>
            <a:ext cx="1828800" cy="15483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3B407C3-F5FA-B7A1-1F16-046EAF8A08D3}"/>
              </a:ext>
            </a:extLst>
          </p:cNvPr>
          <p:cNvSpPr/>
          <p:nvPr/>
        </p:nvSpPr>
        <p:spPr>
          <a:xfrm rot="16200000">
            <a:off x="5543648" y="5544048"/>
            <a:ext cx="87714" cy="388809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3FB461EB-8816-341C-6776-C446B3AD1C78}"/>
              </a:ext>
            </a:extLst>
          </p:cNvPr>
          <p:cNvSpPr txBox="1"/>
          <p:nvPr/>
        </p:nvSpPr>
        <p:spPr>
          <a:xfrm>
            <a:off x="1797136" y="3076179"/>
            <a:ext cx="1828800" cy="307777"/>
          </a:xfrm>
          <a:prstGeom prst="rect">
            <a:avLst/>
          </a:prstGeom>
          <a:solidFill>
            <a:srgbClr val="65914D"/>
          </a:solidFill>
        </p:spPr>
        <p:txBody>
          <a:bodyPr wrap="square" lIns="108000" rtlCol="0">
            <a:spAutoFit/>
          </a:bodyPr>
          <a:lstStyle/>
          <a:p>
            <a:pPr algn="ctr"/>
            <a:endParaRPr lang="en-US" sz="1400" dirty="0">
              <a:solidFill>
                <a:schemeClr val="accent1"/>
              </a:solidFill>
              <a:latin typeface="+mj-lt"/>
            </a:endParaRPr>
          </a:p>
        </p:txBody>
      </p:sp>
      <p:grpSp>
        <p:nvGrpSpPr>
          <p:cNvPr id="41" name="Group 40">
            <a:extLst>
              <a:ext uri="{FF2B5EF4-FFF2-40B4-BE49-F238E27FC236}">
                <a16:creationId xmlns:a16="http://schemas.microsoft.com/office/drawing/2014/main" id="{BCE3E5E6-573C-AC2D-3734-D764325C5830}"/>
              </a:ext>
            </a:extLst>
          </p:cNvPr>
          <p:cNvGrpSpPr/>
          <p:nvPr/>
        </p:nvGrpSpPr>
        <p:grpSpPr>
          <a:xfrm>
            <a:off x="4317645" y="2709280"/>
            <a:ext cx="1357337" cy="1385340"/>
            <a:chOff x="1979259" y="3440671"/>
            <a:chExt cx="1357337" cy="1385340"/>
          </a:xfrm>
        </p:grpSpPr>
        <p:sp>
          <p:nvSpPr>
            <p:cNvPr id="115" name="TextBox 114">
              <a:extLst>
                <a:ext uri="{FF2B5EF4-FFF2-40B4-BE49-F238E27FC236}">
                  <a16:creationId xmlns:a16="http://schemas.microsoft.com/office/drawing/2014/main" id="{F9D7F3CC-0927-4309-8780-07862B295094}"/>
                </a:ext>
              </a:extLst>
            </p:cNvPr>
            <p:cNvSpPr txBox="1"/>
            <p:nvPr/>
          </p:nvSpPr>
          <p:spPr>
            <a:xfrm>
              <a:off x="2059237" y="3440671"/>
              <a:ext cx="1172583" cy="1001871"/>
            </a:xfrm>
            <a:prstGeom prst="rect">
              <a:avLst/>
            </a:prstGeom>
            <a:noFill/>
          </p:spPr>
          <p:txBody>
            <a:bodyPr wrap="square" lIns="0" tIns="0" rIns="0" bIns="0" rtlCol="0">
              <a:noAutofit/>
            </a:bodyPr>
            <a:lstStyle/>
            <a:p>
              <a:pPr>
                <a:lnSpc>
                  <a:spcPts val="10500"/>
                </a:lnSpc>
              </a:pPr>
              <a:r>
                <a:rPr lang="en-US" sz="6600" b="1" spc="-150" dirty="0">
                  <a:solidFill>
                    <a:schemeClr val="accent2"/>
                  </a:solidFill>
                  <a:latin typeface="+mj-lt"/>
                </a:rPr>
                <a:t>82</a:t>
              </a:r>
              <a:r>
                <a:rPr lang="en-US" sz="3200" b="1" spc="-150" dirty="0">
                  <a:solidFill>
                    <a:schemeClr val="accent2"/>
                  </a:solidFill>
                  <a:latin typeface="+mj-lt"/>
                </a:rPr>
                <a:t>k</a:t>
              </a:r>
              <a:r>
                <a:rPr lang="en-US" sz="6600" b="1" spc="-150" dirty="0">
                  <a:solidFill>
                    <a:schemeClr val="accent2"/>
                  </a:solidFill>
                  <a:latin typeface="+mj-lt"/>
                </a:rPr>
                <a:t> </a:t>
              </a:r>
            </a:p>
          </p:txBody>
        </p:sp>
        <p:sp>
          <p:nvSpPr>
            <p:cNvPr id="38" name="TextBox 37">
              <a:extLst>
                <a:ext uri="{FF2B5EF4-FFF2-40B4-BE49-F238E27FC236}">
                  <a16:creationId xmlns:a16="http://schemas.microsoft.com/office/drawing/2014/main" id="{54692157-A406-37E1-0BCE-5ED54D74D482}"/>
                </a:ext>
              </a:extLst>
            </p:cNvPr>
            <p:cNvSpPr txBox="1"/>
            <p:nvPr/>
          </p:nvSpPr>
          <p:spPr>
            <a:xfrm>
              <a:off x="1979259" y="4364346"/>
              <a:ext cx="1357337" cy="461665"/>
            </a:xfrm>
            <a:prstGeom prst="rect">
              <a:avLst/>
            </a:prstGeom>
            <a:noFill/>
          </p:spPr>
          <p:txBody>
            <a:bodyPr wrap="square">
              <a:spAutoFit/>
            </a:bodyPr>
            <a:lstStyle/>
            <a:p>
              <a:pPr algn="ctr"/>
              <a:r>
                <a:rPr lang="en-US" sz="2400" b="1" spc="-150" dirty="0">
                  <a:solidFill>
                    <a:schemeClr val="accent2"/>
                  </a:solidFill>
                  <a:latin typeface="+mj-lt"/>
                </a:rPr>
                <a:t>Queries</a:t>
              </a:r>
              <a:endParaRPr lang="en-US" dirty="0"/>
            </a:p>
          </p:txBody>
        </p:sp>
      </p:grpSp>
      <p:pic>
        <p:nvPicPr>
          <p:cNvPr id="33" name="Picture 32">
            <a:extLst>
              <a:ext uri="{FF2B5EF4-FFF2-40B4-BE49-F238E27FC236}">
                <a16:creationId xmlns:a16="http://schemas.microsoft.com/office/drawing/2014/main" id="{EB385227-F6D0-ED84-9672-91E79BEECB33}"/>
              </a:ext>
            </a:extLst>
          </p:cNvPr>
          <p:cNvPicPr>
            <a:picLocks noChangeAspect="1"/>
          </p:cNvPicPr>
          <p:nvPr/>
        </p:nvPicPr>
        <p:blipFill rotWithShape="1">
          <a:blip r:embed="rId4"/>
          <a:srcRect l="4612" r="1733"/>
          <a:stretch/>
        </p:blipFill>
        <p:spPr>
          <a:xfrm>
            <a:off x="3725711" y="1298644"/>
            <a:ext cx="2680132" cy="3679381"/>
          </a:xfrm>
          <a:prstGeom prst="roundRect">
            <a:avLst>
              <a:gd name="adj" fmla="val 8594"/>
            </a:avLst>
          </a:prstGeom>
          <a:solidFill>
            <a:srgbClr val="FFFFFF">
              <a:shade val="85000"/>
            </a:srgbClr>
          </a:solidFill>
          <a:ln>
            <a:noFill/>
          </a:ln>
          <a:effectLst/>
        </p:spPr>
      </p:pic>
      <p:sp>
        <p:nvSpPr>
          <p:cNvPr id="2" name="Title 1" hidden="1">
            <a:extLst>
              <a:ext uri="{FF2B5EF4-FFF2-40B4-BE49-F238E27FC236}">
                <a16:creationId xmlns:a16="http://schemas.microsoft.com/office/drawing/2014/main" id="{FB3A6FDA-B378-498D-834A-AD13D56BA0C4}"/>
              </a:ext>
            </a:extLst>
          </p:cNvPr>
          <p:cNvSpPr>
            <a:spLocks noGrp="1"/>
          </p:cNvSpPr>
          <p:nvPr>
            <p:ph type="title"/>
          </p:nvPr>
        </p:nvSpPr>
        <p:spPr/>
        <p:txBody>
          <a:bodyPr/>
          <a:lstStyle/>
          <a:p>
            <a:r>
              <a:rPr lang="en-US" dirty="0"/>
              <a:t>Infographic Resume</a:t>
            </a:r>
          </a:p>
        </p:txBody>
      </p:sp>
      <p:pic>
        <p:nvPicPr>
          <p:cNvPr id="137" name="Graphic 136" descr="Icon Map and Location">
            <a:extLst>
              <a:ext uri="{FF2B5EF4-FFF2-40B4-BE49-F238E27FC236}">
                <a16:creationId xmlns:a16="http://schemas.microsoft.com/office/drawing/2014/main" id="{0960335E-DCB4-4825-B3B1-3C310CE24F4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7949" y="3538048"/>
            <a:ext cx="315208" cy="329116"/>
          </a:xfrm>
          <a:prstGeom prst="rect">
            <a:avLst/>
          </a:prstGeom>
        </p:spPr>
      </p:pic>
      <p:sp>
        <p:nvSpPr>
          <p:cNvPr id="8" name="TextBox 7">
            <a:extLst>
              <a:ext uri="{FF2B5EF4-FFF2-40B4-BE49-F238E27FC236}">
                <a16:creationId xmlns:a16="http://schemas.microsoft.com/office/drawing/2014/main" id="{A1196966-5C2E-478E-8624-ABDD09B3FB30}"/>
              </a:ext>
            </a:extLst>
          </p:cNvPr>
          <p:cNvSpPr txBox="1"/>
          <p:nvPr/>
        </p:nvSpPr>
        <p:spPr>
          <a:xfrm>
            <a:off x="1548130" y="423351"/>
            <a:ext cx="3977640" cy="461665"/>
          </a:xfrm>
          <a:prstGeom prst="rect">
            <a:avLst/>
          </a:prstGeom>
          <a:noFill/>
        </p:spPr>
        <p:txBody>
          <a:bodyPr wrap="square" lIns="0" tIns="0" rIns="0" bIns="0" rtlCol="0">
            <a:spAutoFit/>
          </a:bodyPr>
          <a:lstStyle/>
          <a:p>
            <a:r>
              <a:rPr lang="en-US" sz="3000" b="1" spc="-150" dirty="0">
                <a:solidFill>
                  <a:schemeClr val="accent1"/>
                </a:solidFill>
                <a:latin typeface="+mj-lt"/>
              </a:rPr>
              <a:t>Park Pal</a:t>
            </a:r>
          </a:p>
        </p:txBody>
      </p:sp>
      <p:sp>
        <p:nvSpPr>
          <p:cNvPr id="10" name="TextBox 9">
            <a:extLst>
              <a:ext uri="{FF2B5EF4-FFF2-40B4-BE49-F238E27FC236}">
                <a16:creationId xmlns:a16="http://schemas.microsoft.com/office/drawing/2014/main" id="{750231B0-CD8C-4D6D-A41F-A5F1F1414FC9}"/>
              </a:ext>
            </a:extLst>
          </p:cNvPr>
          <p:cNvSpPr txBox="1"/>
          <p:nvPr/>
        </p:nvSpPr>
        <p:spPr>
          <a:xfrm>
            <a:off x="1548130" y="792871"/>
            <a:ext cx="3977640" cy="276999"/>
          </a:xfrm>
          <a:prstGeom prst="rect">
            <a:avLst/>
          </a:prstGeom>
          <a:noFill/>
        </p:spPr>
        <p:txBody>
          <a:bodyPr wrap="square" lIns="0" tIns="0" rIns="0" bIns="0" rtlCol="0">
            <a:spAutoFit/>
          </a:bodyPr>
          <a:lstStyle/>
          <a:p>
            <a:r>
              <a:rPr lang="en-US" dirty="0">
                <a:solidFill>
                  <a:schemeClr val="accent1"/>
                </a:solidFill>
              </a:rPr>
              <a:t>NPS Chatbot</a:t>
            </a:r>
          </a:p>
        </p:txBody>
      </p:sp>
      <p:sp>
        <p:nvSpPr>
          <p:cNvPr id="17" name="TextBox 16">
            <a:extLst>
              <a:ext uri="{FF2B5EF4-FFF2-40B4-BE49-F238E27FC236}">
                <a16:creationId xmlns:a16="http://schemas.microsoft.com/office/drawing/2014/main" id="{37A25968-C5DF-565A-F866-97DB5FFBB9AA}"/>
              </a:ext>
            </a:extLst>
          </p:cNvPr>
          <p:cNvSpPr txBox="1"/>
          <p:nvPr/>
        </p:nvSpPr>
        <p:spPr>
          <a:xfrm rot="1636630">
            <a:off x="6426039" y="1368318"/>
            <a:ext cx="1134766" cy="714107"/>
          </a:xfrm>
          <a:prstGeom prst="wedgeEllipseCallout">
            <a:avLst>
              <a:gd name="adj1" fmla="val -73765"/>
              <a:gd name="adj2" fmla="val 14364"/>
            </a:avLst>
          </a:prstGeom>
          <a:solidFill>
            <a:schemeClr val="accent4">
              <a:lumMod val="50000"/>
              <a:alpha val="69804"/>
            </a:schemeClr>
          </a:solidFill>
        </p:spPr>
        <p:txBody>
          <a:bodyPr wrap="square" lIns="108000" rtlCol="0">
            <a:spAutoFit/>
          </a:bodyPr>
          <a:lstStyle/>
          <a:p>
            <a:pPr algn="ctr"/>
            <a:r>
              <a:rPr lang="en-US" sz="900" b="1" dirty="0">
                <a:solidFill>
                  <a:schemeClr val="bg2"/>
                </a:solidFill>
                <a:latin typeface="+mj-lt"/>
              </a:rPr>
              <a:t>Chat with </a:t>
            </a:r>
          </a:p>
          <a:p>
            <a:pPr algn="ctr"/>
            <a:r>
              <a:rPr lang="en-US" sz="900" b="1" dirty="0">
                <a:solidFill>
                  <a:schemeClr val="bg2"/>
                </a:solidFill>
                <a:latin typeface="+mj-lt"/>
              </a:rPr>
              <a:t>Park Pal Today!</a:t>
            </a:r>
            <a:endParaRPr lang="en-US" sz="1200" b="1" dirty="0">
              <a:solidFill>
                <a:schemeClr val="bg2"/>
              </a:solidFill>
              <a:latin typeface="+mj-lt"/>
            </a:endParaRPr>
          </a:p>
        </p:txBody>
      </p:sp>
      <p:grpSp>
        <p:nvGrpSpPr>
          <p:cNvPr id="42" name="Group 41">
            <a:extLst>
              <a:ext uri="{FF2B5EF4-FFF2-40B4-BE49-F238E27FC236}">
                <a16:creationId xmlns:a16="http://schemas.microsoft.com/office/drawing/2014/main" id="{46136F84-8816-BCD5-D55B-389718F4BCA8}"/>
              </a:ext>
            </a:extLst>
          </p:cNvPr>
          <p:cNvGrpSpPr/>
          <p:nvPr/>
        </p:nvGrpSpPr>
        <p:grpSpPr>
          <a:xfrm>
            <a:off x="5892950" y="365865"/>
            <a:ext cx="1713847" cy="782288"/>
            <a:chOff x="85553" y="1620894"/>
            <a:chExt cx="1713847" cy="782288"/>
          </a:xfrm>
        </p:grpSpPr>
        <p:sp>
          <p:nvSpPr>
            <p:cNvPr id="23" name="TextBox 22">
              <a:extLst>
                <a:ext uri="{FF2B5EF4-FFF2-40B4-BE49-F238E27FC236}">
                  <a16:creationId xmlns:a16="http://schemas.microsoft.com/office/drawing/2014/main" id="{9A199F04-619B-662C-B577-048A6E482974}"/>
                </a:ext>
              </a:extLst>
            </p:cNvPr>
            <p:cNvSpPr txBox="1"/>
            <p:nvPr/>
          </p:nvSpPr>
          <p:spPr>
            <a:xfrm>
              <a:off x="246401" y="1620894"/>
              <a:ext cx="1506771" cy="307777"/>
            </a:xfrm>
            <a:prstGeom prst="rect">
              <a:avLst/>
            </a:prstGeom>
            <a:noFill/>
          </p:spPr>
          <p:txBody>
            <a:bodyPr wrap="square">
              <a:spAutoFit/>
            </a:bodyPr>
            <a:lstStyle/>
            <a:p>
              <a:pPr algn="ctr"/>
              <a:r>
                <a:rPr lang="en-US" sz="1400" b="1" dirty="0">
                  <a:solidFill>
                    <a:schemeClr val="accent1"/>
                  </a:solidFill>
                  <a:latin typeface="+mj-lt"/>
                </a:rPr>
                <a:t>Collaborators</a:t>
              </a:r>
            </a:p>
          </p:txBody>
        </p:sp>
        <p:pic>
          <p:nvPicPr>
            <p:cNvPr id="7" name="Graphic 6" descr="Hiker icon">
              <a:extLst>
                <a:ext uri="{FF2B5EF4-FFF2-40B4-BE49-F238E27FC236}">
                  <a16:creationId xmlns:a16="http://schemas.microsoft.com/office/drawing/2014/main" id="{197056E8-F093-46AB-89E7-7E26124ED8D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85553" y="1626185"/>
              <a:ext cx="281167" cy="281167"/>
            </a:xfrm>
            <a:prstGeom prst="rect">
              <a:avLst/>
            </a:prstGeom>
          </p:spPr>
        </p:pic>
        <p:sp>
          <p:nvSpPr>
            <p:cNvPr id="29" name="TextBox 28">
              <a:extLst>
                <a:ext uri="{FF2B5EF4-FFF2-40B4-BE49-F238E27FC236}">
                  <a16:creationId xmlns:a16="http://schemas.microsoft.com/office/drawing/2014/main" id="{5413694A-DB8C-C369-BEF5-36BE30E50A0C}"/>
                </a:ext>
              </a:extLst>
            </p:cNvPr>
            <p:cNvSpPr txBox="1"/>
            <p:nvPr/>
          </p:nvSpPr>
          <p:spPr>
            <a:xfrm>
              <a:off x="379751" y="1895351"/>
              <a:ext cx="1419649" cy="507831"/>
            </a:xfrm>
            <a:prstGeom prst="rect">
              <a:avLst/>
            </a:prstGeom>
            <a:noFill/>
          </p:spPr>
          <p:txBody>
            <a:bodyPr wrap="square" rtlCol="0">
              <a:spAutoFit/>
            </a:bodyPr>
            <a:lstStyle/>
            <a:p>
              <a:r>
                <a:rPr lang="en-US" sz="900" b="1" dirty="0">
                  <a:solidFill>
                    <a:schemeClr val="accent1"/>
                  </a:solidFill>
                </a:rPr>
                <a:t>Nicole </a:t>
              </a:r>
              <a:r>
                <a:rPr lang="en-US" sz="900" b="1" dirty="0" err="1">
                  <a:solidFill>
                    <a:schemeClr val="accent1"/>
                  </a:solidFill>
                </a:rPr>
                <a:t>Blakkan-Esser</a:t>
              </a:r>
              <a:endParaRPr lang="en-US" sz="900" b="1" dirty="0">
                <a:solidFill>
                  <a:schemeClr val="accent1"/>
                </a:solidFill>
              </a:endParaRPr>
            </a:p>
            <a:p>
              <a:r>
                <a:rPr lang="en-US" sz="900" b="1" dirty="0" err="1">
                  <a:solidFill>
                    <a:schemeClr val="accent1"/>
                  </a:solidFill>
                </a:rPr>
                <a:t>Lauralyn</a:t>
              </a:r>
              <a:r>
                <a:rPr lang="en-US" sz="900" b="1" dirty="0">
                  <a:solidFill>
                    <a:schemeClr val="accent1"/>
                  </a:solidFill>
                </a:rPr>
                <a:t> Curry-Leech Courtney Gibson</a:t>
              </a:r>
            </a:p>
          </p:txBody>
        </p:sp>
      </p:grpSp>
      <p:sp>
        <p:nvSpPr>
          <p:cNvPr id="32" name="TextBox 31">
            <a:extLst>
              <a:ext uri="{FF2B5EF4-FFF2-40B4-BE49-F238E27FC236}">
                <a16:creationId xmlns:a16="http://schemas.microsoft.com/office/drawing/2014/main" id="{CA0269E9-7B45-B8C3-9854-AA26482ED34D}"/>
              </a:ext>
            </a:extLst>
          </p:cNvPr>
          <p:cNvSpPr txBox="1"/>
          <p:nvPr/>
        </p:nvSpPr>
        <p:spPr>
          <a:xfrm>
            <a:off x="588208" y="3422519"/>
            <a:ext cx="1172583" cy="584775"/>
          </a:xfrm>
          <a:prstGeom prst="rect">
            <a:avLst/>
          </a:prstGeom>
          <a:noFill/>
        </p:spPr>
        <p:txBody>
          <a:bodyPr wrap="square">
            <a:spAutoFit/>
          </a:bodyPr>
          <a:lstStyle/>
          <a:p>
            <a:r>
              <a:rPr lang="en-US" sz="1600" b="1" dirty="0">
                <a:solidFill>
                  <a:schemeClr val="accent4">
                    <a:lumMod val="50000"/>
                  </a:schemeClr>
                </a:solidFill>
                <a:latin typeface="+mj-lt"/>
              </a:rPr>
              <a:t>Project </a:t>
            </a:r>
          </a:p>
          <a:p>
            <a:pPr algn="ctr"/>
            <a:r>
              <a:rPr lang="en-US" sz="1600" b="1" dirty="0">
                <a:solidFill>
                  <a:schemeClr val="accent4">
                    <a:lumMod val="50000"/>
                  </a:schemeClr>
                </a:solidFill>
                <a:latin typeface="+mj-lt"/>
              </a:rPr>
              <a:t>Roadmap</a:t>
            </a:r>
          </a:p>
        </p:txBody>
      </p:sp>
      <p:sp>
        <p:nvSpPr>
          <p:cNvPr id="50" name="Rectangle: Rounded Corners 49">
            <a:extLst>
              <a:ext uri="{FF2B5EF4-FFF2-40B4-BE49-F238E27FC236}">
                <a16:creationId xmlns:a16="http://schemas.microsoft.com/office/drawing/2014/main" id="{0C1DA6E0-7BC1-E36D-6000-4D61CA2835BA}"/>
              </a:ext>
            </a:extLst>
          </p:cNvPr>
          <p:cNvSpPr/>
          <p:nvPr/>
        </p:nvSpPr>
        <p:spPr>
          <a:xfrm>
            <a:off x="311669" y="6235158"/>
            <a:ext cx="1373568" cy="1146155"/>
          </a:xfrm>
          <a:prstGeom prst="roundRect">
            <a:avLst/>
          </a:prstGeom>
          <a:solidFill>
            <a:schemeClr val="accent3">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solidFill>
                  <a:schemeClr val="accent1"/>
                </a:solidFill>
                <a:latin typeface="+mj-lt"/>
              </a:rPr>
              <a:t>Host Park Pal</a:t>
            </a:r>
          </a:p>
          <a:p>
            <a:pPr algn="ctr"/>
            <a:endParaRPr lang="en-US" sz="1050" dirty="0">
              <a:solidFill>
                <a:schemeClr val="accent1"/>
              </a:solidFill>
              <a:latin typeface="+mj-lt"/>
            </a:endParaRPr>
          </a:p>
          <a:p>
            <a:pPr algn="ctr"/>
            <a:endParaRPr lang="en-US" sz="1050" dirty="0">
              <a:solidFill>
                <a:schemeClr val="accent1"/>
              </a:solidFill>
              <a:latin typeface="+mj-lt"/>
            </a:endParaRPr>
          </a:p>
          <a:p>
            <a:pPr algn="ctr"/>
            <a:r>
              <a:rPr lang="en-US" sz="1050" dirty="0">
                <a:solidFill>
                  <a:schemeClr val="accent1"/>
                </a:solidFill>
                <a:latin typeface="+mj-lt"/>
              </a:rPr>
              <a:t> </a:t>
            </a:r>
          </a:p>
          <a:p>
            <a:pPr algn="ctr"/>
            <a:endParaRPr lang="en-US" sz="1050" dirty="0">
              <a:solidFill>
                <a:schemeClr val="accent1"/>
              </a:solidFill>
              <a:latin typeface="+mj-lt"/>
            </a:endParaRPr>
          </a:p>
          <a:p>
            <a:pPr algn="ctr"/>
            <a:endParaRPr lang="en-US" sz="1050" dirty="0">
              <a:solidFill>
                <a:schemeClr val="accent1"/>
              </a:solidFill>
              <a:latin typeface="+mj-lt"/>
            </a:endParaRPr>
          </a:p>
        </p:txBody>
      </p:sp>
      <p:sp>
        <p:nvSpPr>
          <p:cNvPr id="51" name="Rectangle: Rounded Corners 50">
            <a:extLst>
              <a:ext uri="{FF2B5EF4-FFF2-40B4-BE49-F238E27FC236}">
                <a16:creationId xmlns:a16="http://schemas.microsoft.com/office/drawing/2014/main" id="{DEB9F799-8A60-4875-6208-0D17EDFEC954}"/>
              </a:ext>
            </a:extLst>
          </p:cNvPr>
          <p:cNvSpPr/>
          <p:nvPr/>
        </p:nvSpPr>
        <p:spPr>
          <a:xfrm>
            <a:off x="311669" y="5119095"/>
            <a:ext cx="1367189" cy="748824"/>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b="1" dirty="0">
                <a:solidFill>
                  <a:schemeClr val="accent1"/>
                </a:solidFill>
                <a:latin typeface="+mj-lt"/>
              </a:rPr>
              <a:t>Train LLM &amp; NLP Models</a:t>
            </a:r>
          </a:p>
          <a:p>
            <a:pPr algn="ctr"/>
            <a:endParaRPr lang="en-US" sz="1050" dirty="0">
              <a:solidFill>
                <a:schemeClr val="accent1"/>
              </a:solidFill>
              <a:latin typeface="+mj-lt"/>
            </a:endParaRPr>
          </a:p>
          <a:p>
            <a:pPr algn="ctr"/>
            <a:endParaRPr lang="en-US" sz="1050" dirty="0">
              <a:solidFill>
                <a:schemeClr val="accent1"/>
              </a:solidFill>
              <a:latin typeface="+mj-lt"/>
            </a:endParaRPr>
          </a:p>
        </p:txBody>
      </p:sp>
      <p:sp>
        <p:nvSpPr>
          <p:cNvPr id="52" name="Rectangle: Rounded Corners 51">
            <a:extLst>
              <a:ext uri="{FF2B5EF4-FFF2-40B4-BE49-F238E27FC236}">
                <a16:creationId xmlns:a16="http://schemas.microsoft.com/office/drawing/2014/main" id="{3FBE0CBE-AE2E-DEB1-3AA0-DEE67B48E556}"/>
              </a:ext>
            </a:extLst>
          </p:cNvPr>
          <p:cNvSpPr/>
          <p:nvPr/>
        </p:nvSpPr>
        <p:spPr>
          <a:xfrm>
            <a:off x="317717" y="4119605"/>
            <a:ext cx="1367188" cy="64770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solidFill>
                  <a:schemeClr val="accent1"/>
                </a:solidFill>
                <a:latin typeface="+mj-lt"/>
              </a:rPr>
              <a:t>Prepare </a:t>
            </a:r>
          </a:p>
          <a:p>
            <a:pPr algn="ctr"/>
            <a:r>
              <a:rPr lang="en-US" sz="1050" b="1" dirty="0">
                <a:solidFill>
                  <a:schemeClr val="accent1"/>
                </a:solidFill>
                <a:latin typeface="+mj-lt"/>
              </a:rPr>
              <a:t>Synthetic Data</a:t>
            </a:r>
          </a:p>
          <a:p>
            <a:pPr algn="ctr"/>
            <a:endParaRPr lang="en-US" sz="1050" b="1" dirty="0">
              <a:solidFill>
                <a:schemeClr val="accent1"/>
              </a:solidFill>
              <a:latin typeface="+mj-lt"/>
            </a:endParaRPr>
          </a:p>
          <a:p>
            <a:pPr algn="ctr"/>
            <a:endParaRPr lang="en-US" sz="1050" dirty="0">
              <a:solidFill>
                <a:schemeClr val="accent1"/>
              </a:solidFill>
              <a:latin typeface="+mj-lt"/>
            </a:endParaRPr>
          </a:p>
        </p:txBody>
      </p:sp>
      <p:pic>
        <p:nvPicPr>
          <p:cNvPr id="53" name="Picture 10" descr="Python - Python Logo - CleanPNG / KissPNG">
            <a:extLst>
              <a:ext uri="{FF2B5EF4-FFF2-40B4-BE49-F238E27FC236}">
                <a16:creationId xmlns:a16="http://schemas.microsoft.com/office/drawing/2014/main" id="{40DECA7E-C5A6-4913-16AC-DC7A115C81C9}"/>
              </a:ext>
            </a:extLst>
          </p:cNvPr>
          <p:cNvPicPr>
            <a:picLocks noChangeAspect="1" noChangeArrowheads="1"/>
          </p:cNvPicPr>
          <p:nvPr/>
        </p:nvPicPr>
        <p:blipFill>
          <a:blip r:embed="rId9">
            <a:duotone>
              <a:prstClr val="black"/>
              <a:schemeClr val="accent5">
                <a:tint val="45000"/>
                <a:satMod val="400000"/>
              </a:schemeClr>
            </a:duotone>
            <a:extLst>
              <a:ext uri="{BEBA8EAE-BF5A-486C-A8C5-ECC9F3942E4B}">
                <a14:imgProps xmlns:a14="http://schemas.microsoft.com/office/drawing/2010/main">
                  <a14:imgLayer r:embed="rId10">
                    <a14:imgEffect>
                      <a14:backgroundRemoval t="7927" b="89024" l="9416" r="89610">
                        <a14:foregroundMark x1="53571" y1="8537" x2="53571" y2="8537"/>
                        <a14:foregroundMark x1="50649" y1="7927" x2="50649" y2="7927"/>
                        <a14:backgroundMark x1="50000" y1="43293" x2="50000" y2="43293"/>
                        <a14:backgroundMark x1="41558" y1="45732" x2="41558" y2="45732"/>
                        <a14:backgroundMark x1="57143" y1="64634" x2="57143" y2="64634"/>
                        <a14:backgroundMark x1="56494" y1="74390" x2="56494" y2="74390"/>
                      </a14:backgroundRemoval>
                    </a14:imgEffect>
                  </a14:imgLayer>
                </a14:imgProps>
              </a:ext>
              <a:ext uri="{28A0092B-C50C-407E-A947-70E740481C1C}">
                <a14:useLocalDpi xmlns:a14="http://schemas.microsoft.com/office/drawing/2010/main" val="0"/>
              </a:ext>
            </a:extLst>
          </a:blip>
          <a:srcRect/>
          <a:stretch>
            <a:fillRect/>
          </a:stretch>
        </p:blipFill>
        <p:spPr bwMode="auto">
          <a:xfrm>
            <a:off x="631146" y="4418055"/>
            <a:ext cx="751427" cy="40011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2" descr="Openai png images | PNGWing">
            <a:extLst>
              <a:ext uri="{FF2B5EF4-FFF2-40B4-BE49-F238E27FC236}">
                <a16:creationId xmlns:a16="http://schemas.microsoft.com/office/drawing/2014/main" id="{9B033876-DBF8-6D71-DA81-F82F3E460F44}"/>
              </a:ext>
            </a:extLst>
          </p:cNvPr>
          <p:cNvPicPr>
            <a:picLocks noChangeAspect="1" noChangeArrowheads="1"/>
          </p:cNvPicPr>
          <p:nvPr/>
        </p:nvPicPr>
        <p:blipFill rotWithShape="1">
          <a:blip r:embed="rId11">
            <a:clrChange>
              <a:clrFrom>
                <a:srgbClr val="000000">
                  <a:alpha val="0"/>
                </a:srgbClr>
              </a:clrFrom>
              <a:clrTo>
                <a:srgbClr val="000000">
                  <a:alpha val="0"/>
                </a:srgbClr>
              </a:clrTo>
            </a:clrChange>
            <a:duotone>
              <a:schemeClr val="accent5">
                <a:shade val="45000"/>
                <a:satMod val="135000"/>
              </a:schemeClr>
              <a:prstClr val="white"/>
            </a:duotone>
            <a:alphaModFix amt="85000"/>
            <a:extLst>
              <a:ext uri="{BEBA8EAE-BF5A-486C-A8C5-ECC9F3942E4B}">
                <a14:imgProps xmlns:a14="http://schemas.microsoft.com/office/drawing/2010/main">
                  <a14:imgLayer r:embed="rId12">
                    <a14:imgEffect>
                      <a14:backgroundRemoval t="3667" b="95333" l="10000" r="90000">
                        <a14:foregroundMark x1="49022" y1="3667" x2="49022" y2="3667"/>
                        <a14:foregroundMark x1="48913" y1="95333" x2="48913" y2="95333"/>
                      </a14:backgroundRemoval>
                    </a14:imgEffect>
                  </a14:imgLayer>
                </a14:imgProps>
              </a:ext>
              <a:ext uri="{28A0092B-C50C-407E-A947-70E740481C1C}">
                <a14:useLocalDpi xmlns:a14="http://schemas.microsoft.com/office/drawing/2010/main" val="0"/>
              </a:ext>
            </a:extLst>
          </a:blip>
          <a:srcRect l="33389" r="33222"/>
          <a:stretch/>
        </p:blipFill>
        <p:spPr bwMode="auto">
          <a:xfrm>
            <a:off x="427620" y="5452735"/>
            <a:ext cx="409562" cy="40011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2" descr="Natural language processing - Free electronics icons">
            <a:extLst>
              <a:ext uri="{FF2B5EF4-FFF2-40B4-BE49-F238E27FC236}">
                <a16:creationId xmlns:a16="http://schemas.microsoft.com/office/drawing/2014/main" id="{FB593177-AD76-B21C-7C67-E41E4050AEC7}"/>
              </a:ext>
            </a:extLst>
          </p:cNvPr>
          <p:cNvPicPr>
            <a:picLocks noChangeAspect="1" noChangeArrowheads="1"/>
          </p:cNvPicPr>
          <p:nvPr/>
        </p:nvPicPr>
        <p:blipFill>
          <a:blip r:embed="rId13">
            <a:duotone>
              <a:schemeClr val="accent5">
                <a:shade val="45000"/>
                <a:satMod val="135000"/>
              </a:schemeClr>
              <a:prstClr val="white"/>
            </a:duotone>
            <a:alphaModFix amt="85000"/>
            <a:extLst>
              <a:ext uri="{28A0092B-C50C-407E-A947-70E740481C1C}">
                <a14:useLocalDpi xmlns:a14="http://schemas.microsoft.com/office/drawing/2010/main" val="0"/>
              </a:ext>
            </a:extLst>
          </a:blip>
          <a:srcRect/>
          <a:stretch>
            <a:fillRect/>
          </a:stretch>
        </p:blipFill>
        <p:spPr bwMode="auto">
          <a:xfrm>
            <a:off x="1150432" y="5368649"/>
            <a:ext cx="484840" cy="48484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4" descr="Amazon aws logo, png | PNGWing">
            <a:extLst>
              <a:ext uri="{FF2B5EF4-FFF2-40B4-BE49-F238E27FC236}">
                <a16:creationId xmlns:a16="http://schemas.microsoft.com/office/drawing/2014/main" id="{C20D14E9-7429-897E-3122-ADFF162BB15A}"/>
              </a:ext>
            </a:extLst>
          </p:cNvPr>
          <p:cNvPicPr>
            <a:picLocks noChangeAspect="1" noChangeArrowheads="1"/>
          </p:cNvPicPr>
          <p:nvPr/>
        </p:nvPicPr>
        <p:blipFill rotWithShape="1">
          <a:blip r:embed="rId14">
            <a:duotone>
              <a:schemeClr val="accent5">
                <a:shade val="45000"/>
                <a:satMod val="135000"/>
              </a:schemeClr>
              <a:prstClr val="white"/>
            </a:duotone>
            <a:alphaModFix amt="85000"/>
            <a:extLst>
              <a:ext uri="{BEBA8EAE-BF5A-486C-A8C5-ECC9F3942E4B}">
                <a14:imgProps xmlns:a14="http://schemas.microsoft.com/office/drawing/2010/main">
                  <a14:imgLayer r:embed="rId15">
                    <a14:imgEffect>
                      <a14:backgroundRemoval t="10000" b="90000" l="10000" r="90000">
                        <a14:foregroundMark x1="32222" y1="38333" x2="32222" y2="38333"/>
                        <a14:foregroundMark x1="69444" y1="36944" x2="69444" y2="36944"/>
                        <a14:foregroundMark x1="70000" y1="65278" x2="70000" y2="65278"/>
                        <a14:foregroundMark x1="81667" y1="59722" x2="81667" y2="59722"/>
                      </a14:backgroundRemoval>
                    </a14:imgEffect>
                  </a14:imgLayer>
                </a14:imgProps>
              </a:ext>
              <a:ext uri="{28A0092B-C50C-407E-A947-70E740481C1C}">
                <a14:useLocalDpi xmlns:a14="http://schemas.microsoft.com/office/drawing/2010/main" val="0"/>
              </a:ext>
            </a:extLst>
          </a:blip>
          <a:srcRect l="13111" t="27364" r="13750" b="25334"/>
          <a:stretch/>
        </p:blipFill>
        <p:spPr bwMode="auto">
          <a:xfrm>
            <a:off x="776034" y="6576558"/>
            <a:ext cx="480696" cy="310894"/>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6" descr="Aws Lambda - Amazon Logo - CleanPNG / KissPNG">
            <a:extLst>
              <a:ext uri="{FF2B5EF4-FFF2-40B4-BE49-F238E27FC236}">
                <a16:creationId xmlns:a16="http://schemas.microsoft.com/office/drawing/2014/main" id="{DB904853-EF70-BD4C-B4E5-95B405F3218B}"/>
              </a:ext>
            </a:extLst>
          </p:cNvPr>
          <p:cNvPicPr>
            <a:picLocks noChangeAspect="1" noChangeArrowheads="1"/>
          </p:cNvPicPr>
          <p:nvPr/>
        </p:nvPicPr>
        <p:blipFill>
          <a:blip r:embed="rId16">
            <a:duotone>
              <a:prstClr val="black"/>
              <a:schemeClr val="accent5">
                <a:tint val="45000"/>
                <a:satMod val="400000"/>
              </a:schemeClr>
            </a:duotone>
            <a:extLst>
              <a:ext uri="{BEBA8EAE-BF5A-486C-A8C5-ECC9F3942E4B}">
                <a14:imgProps xmlns:a14="http://schemas.microsoft.com/office/drawing/2010/main">
                  <a14:imgLayer r:embed="rId17">
                    <a14:imgEffect>
                      <a14:backgroundRemoval t="10000" b="90000" l="9111" r="92667">
                        <a14:foregroundMark x1="92667" y1="82396" x2="92667" y2="82396"/>
                        <a14:foregroundMark x1="9111" y1="86667" x2="9111" y2="86667"/>
                      </a14:backgroundRemoval>
                    </a14:imgEffect>
                  </a14:imgLayer>
                </a14:imgProps>
              </a:ext>
              <a:ext uri="{28A0092B-C50C-407E-A947-70E740481C1C}">
                <a14:useLocalDpi xmlns:a14="http://schemas.microsoft.com/office/drawing/2010/main" val="0"/>
              </a:ext>
            </a:extLst>
          </a:blip>
          <a:srcRect/>
          <a:stretch>
            <a:fillRect/>
          </a:stretch>
        </p:blipFill>
        <p:spPr bwMode="auto">
          <a:xfrm>
            <a:off x="331462" y="6853868"/>
            <a:ext cx="505719" cy="51270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8" descr="Amazon S3 - Amazon Logo - CleanPNG / KissPNG">
            <a:extLst>
              <a:ext uri="{FF2B5EF4-FFF2-40B4-BE49-F238E27FC236}">
                <a16:creationId xmlns:a16="http://schemas.microsoft.com/office/drawing/2014/main" id="{7E50DEDD-A22A-E87A-72C9-636543609C29}"/>
              </a:ext>
            </a:extLst>
          </p:cNvPr>
          <p:cNvPicPr>
            <a:picLocks noChangeAspect="1" noChangeArrowheads="1"/>
          </p:cNvPicPr>
          <p:nvPr/>
        </p:nvPicPr>
        <p:blipFill rotWithShape="1">
          <a:blip r:embed="rId18">
            <a:duotone>
              <a:schemeClr val="accent5">
                <a:shade val="45000"/>
                <a:satMod val="135000"/>
              </a:schemeClr>
              <a:prstClr val="white"/>
            </a:duotone>
            <a:extLst>
              <a:ext uri="{BEBA8EAE-BF5A-486C-A8C5-ECC9F3942E4B}">
                <a14:imgProps xmlns:a14="http://schemas.microsoft.com/office/drawing/2010/main">
                  <a14:imgLayer r:embed="rId19">
                    <a14:imgEffect>
                      <a14:backgroundRemoval t="10000" b="90000" l="10000" r="90000"/>
                    </a14:imgEffect>
                  </a14:imgLayer>
                </a14:imgProps>
              </a:ext>
              <a:ext uri="{28A0092B-C50C-407E-A947-70E740481C1C}">
                <a14:useLocalDpi xmlns:a14="http://schemas.microsoft.com/office/drawing/2010/main" val="0"/>
              </a:ext>
            </a:extLst>
          </a:blip>
          <a:srcRect l="31789" t="11824" r="31078" b="13349"/>
          <a:stretch/>
        </p:blipFill>
        <p:spPr bwMode="auto">
          <a:xfrm>
            <a:off x="1256773" y="6875133"/>
            <a:ext cx="430905" cy="501735"/>
          </a:xfrm>
          <a:prstGeom prst="rect">
            <a:avLst/>
          </a:prstGeom>
          <a:noFill/>
          <a:extLst>
            <a:ext uri="{909E8E84-426E-40DD-AFC4-6F175D3DCCD1}">
              <a14:hiddenFill xmlns:a14="http://schemas.microsoft.com/office/drawing/2010/main">
                <a:solidFill>
                  <a:srgbClr val="FFFFFF"/>
                </a:solidFill>
              </a14:hiddenFill>
            </a:ext>
          </a:extLst>
        </p:spPr>
      </p:pic>
      <p:sp>
        <p:nvSpPr>
          <p:cNvPr id="60" name="Arrow: Down 59">
            <a:extLst>
              <a:ext uri="{FF2B5EF4-FFF2-40B4-BE49-F238E27FC236}">
                <a16:creationId xmlns:a16="http://schemas.microsoft.com/office/drawing/2014/main" id="{EBC73530-B553-F636-D15B-F36E5D1138FC}"/>
              </a:ext>
            </a:extLst>
          </p:cNvPr>
          <p:cNvSpPr/>
          <p:nvPr/>
        </p:nvSpPr>
        <p:spPr>
          <a:xfrm>
            <a:off x="814621" y="4786384"/>
            <a:ext cx="373380" cy="319734"/>
          </a:xfrm>
          <a:prstGeom prst="down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50">
              <a:solidFill>
                <a:schemeClr val="accent1"/>
              </a:solidFill>
              <a:latin typeface="+mj-lt"/>
            </a:endParaRPr>
          </a:p>
        </p:txBody>
      </p:sp>
      <p:sp>
        <p:nvSpPr>
          <p:cNvPr id="61" name="Arrow: Down 60">
            <a:extLst>
              <a:ext uri="{FF2B5EF4-FFF2-40B4-BE49-F238E27FC236}">
                <a16:creationId xmlns:a16="http://schemas.microsoft.com/office/drawing/2014/main" id="{F22ABF95-6D82-AC88-30D0-54A8E916E3FB}"/>
              </a:ext>
            </a:extLst>
          </p:cNvPr>
          <p:cNvSpPr/>
          <p:nvPr/>
        </p:nvSpPr>
        <p:spPr>
          <a:xfrm>
            <a:off x="826054" y="5888921"/>
            <a:ext cx="373380" cy="319734"/>
          </a:xfrm>
          <a:prstGeom prst="down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50">
              <a:solidFill>
                <a:schemeClr val="accent1"/>
              </a:solidFill>
              <a:latin typeface="+mj-lt"/>
            </a:endParaRPr>
          </a:p>
        </p:txBody>
      </p:sp>
      <p:cxnSp>
        <p:nvCxnSpPr>
          <p:cNvPr id="63" name="Straight Arrow Connector 62">
            <a:extLst>
              <a:ext uri="{FF2B5EF4-FFF2-40B4-BE49-F238E27FC236}">
                <a16:creationId xmlns:a16="http://schemas.microsoft.com/office/drawing/2014/main" id="{55BBFEFF-A39B-B1E9-8443-1BE779E8B45B}"/>
              </a:ext>
            </a:extLst>
          </p:cNvPr>
          <p:cNvCxnSpPr>
            <a:cxnSpLocks/>
            <a:stCxn id="57" idx="2"/>
            <a:endCxn id="59" idx="1"/>
          </p:cNvCxnSpPr>
          <p:nvPr/>
        </p:nvCxnSpPr>
        <p:spPr>
          <a:xfrm>
            <a:off x="1016382" y="6887452"/>
            <a:ext cx="240391" cy="238549"/>
          </a:xfrm>
          <a:prstGeom prst="straightConnector1">
            <a:avLst/>
          </a:prstGeom>
          <a:ln>
            <a:solidFill>
              <a:srgbClr val="5C3E00">
                <a:alpha val="69804"/>
              </a:srgbClr>
            </a:solidFill>
            <a:tailEnd type="triangle"/>
          </a:ln>
        </p:spPr>
        <p:style>
          <a:lnRef idx="3">
            <a:schemeClr val="dk1"/>
          </a:lnRef>
          <a:fillRef idx="0">
            <a:schemeClr val="dk1"/>
          </a:fillRef>
          <a:effectRef idx="2">
            <a:schemeClr val="dk1"/>
          </a:effectRef>
          <a:fontRef idx="minor">
            <a:schemeClr val="tx1"/>
          </a:fontRef>
        </p:style>
      </p:cxnSp>
      <p:cxnSp>
        <p:nvCxnSpPr>
          <p:cNvPr id="123" name="Straight Arrow Connector 122">
            <a:extLst>
              <a:ext uri="{FF2B5EF4-FFF2-40B4-BE49-F238E27FC236}">
                <a16:creationId xmlns:a16="http://schemas.microsoft.com/office/drawing/2014/main" id="{F5661005-45AF-9CE2-C26F-0B25E8693CBD}"/>
              </a:ext>
            </a:extLst>
          </p:cNvPr>
          <p:cNvCxnSpPr>
            <a:cxnSpLocks/>
          </p:cNvCxnSpPr>
          <p:nvPr/>
        </p:nvCxnSpPr>
        <p:spPr>
          <a:xfrm flipH="1">
            <a:off x="736229" y="6885822"/>
            <a:ext cx="275783" cy="237744"/>
          </a:xfrm>
          <a:prstGeom prst="straightConnector1">
            <a:avLst/>
          </a:prstGeom>
          <a:ln>
            <a:solidFill>
              <a:srgbClr val="5C3E00">
                <a:alpha val="69804"/>
              </a:srgbClr>
            </a:solidFill>
            <a:tailEnd type="triangle"/>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F38C92AA-E76F-5FA1-25EB-FA3D999972D0}"/>
              </a:ext>
            </a:extLst>
          </p:cNvPr>
          <p:cNvSpPr txBox="1"/>
          <p:nvPr/>
        </p:nvSpPr>
        <p:spPr>
          <a:xfrm>
            <a:off x="243652" y="3268555"/>
            <a:ext cx="1505705" cy="4185761"/>
          </a:xfrm>
          <a:prstGeom prst="rect">
            <a:avLst/>
          </a:prstGeom>
          <a:solidFill>
            <a:schemeClr val="accent1"/>
          </a:solidFill>
        </p:spPr>
        <p:txBody>
          <a:bodyPr wrap="square" lIns="108000" rtlCol="0">
            <a:spAutoFit/>
          </a:bodyPr>
          <a:lstStyle/>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a:p>
            <a:pPr algn="ctr"/>
            <a:endParaRPr lang="en-US" sz="1400" dirty="0">
              <a:solidFill>
                <a:srgbClr val="DBE8D4"/>
              </a:solidFill>
              <a:latin typeface="+mj-lt"/>
            </a:endParaRPr>
          </a:p>
        </p:txBody>
      </p:sp>
      <p:sp>
        <p:nvSpPr>
          <p:cNvPr id="96" name="TextBox 95">
            <a:extLst>
              <a:ext uri="{FF2B5EF4-FFF2-40B4-BE49-F238E27FC236}">
                <a16:creationId xmlns:a16="http://schemas.microsoft.com/office/drawing/2014/main" id="{9DFAE1DC-3EAF-8F59-EA31-C15C50BFA33F}"/>
              </a:ext>
            </a:extLst>
          </p:cNvPr>
          <p:cNvSpPr txBox="1"/>
          <p:nvPr/>
        </p:nvSpPr>
        <p:spPr>
          <a:xfrm>
            <a:off x="240986" y="3171290"/>
            <a:ext cx="3408822" cy="307777"/>
          </a:xfrm>
          <a:prstGeom prst="rect">
            <a:avLst/>
          </a:prstGeom>
          <a:solidFill>
            <a:srgbClr val="65914D"/>
          </a:solidFill>
        </p:spPr>
        <p:txBody>
          <a:bodyPr wrap="square" lIns="108000" rtlCol="0">
            <a:spAutoFit/>
          </a:bodyPr>
          <a:lstStyle/>
          <a:p>
            <a:pPr algn="ctr"/>
            <a:endParaRPr lang="en-US" sz="1400" dirty="0">
              <a:solidFill>
                <a:schemeClr val="accent1"/>
              </a:solidFill>
              <a:latin typeface="+mj-lt"/>
            </a:endParaRPr>
          </a:p>
        </p:txBody>
      </p:sp>
      <p:sp>
        <p:nvSpPr>
          <p:cNvPr id="55" name="TextBox 54">
            <a:extLst>
              <a:ext uri="{FF2B5EF4-FFF2-40B4-BE49-F238E27FC236}">
                <a16:creationId xmlns:a16="http://schemas.microsoft.com/office/drawing/2014/main" id="{5A89F32A-A554-4958-3EC8-E20C2450FC0B}"/>
              </a:ext>
            </a:extLst>
          </p:cNvPr>
          <p:cNvSpPr txBox="1"/>
          <p:nvPr/>
        </p:nvSpPr>
        <p:spPr>
          <a:xfrm>
            <a:off x="1911129" y="3541610"/>
            <a:ext cx="1700299" cy="590643"/>
          </a:xfrm>
          <a:prstGeom prst="rect">
            <a:avLst/>
          </a:prstGeom>
          <a:noFill/>
        </p:spPr>
        <p:txBody>
          <a:bodyPr wrap="square" lIns="0" tIns="0" rIns="0" bIns="0" rtlCol="0">
            <a:noAutofit/>
          </a:bodyPr>
          <a:lstStyle/>
          <a:p>
            <a:r>
              <a:rPr lang="en-US" sz="900" dirty="0">
                <a:solidFill>
                  <a:schemeClr val="bg1"/>
                </a:solidFill>
              </a:rPr>
              <a:t>Synthetic queries were developed to represent questions that users may ask in association with five NPS API endpoint. </a:t>
            </a:r>
          </a:p>
          <a:p>
            <a:endParaRPr lang="en-US" sz="900" dirty="0">
              <a:solidFill>
                <a:schemeClr val="bg1"/>
              </a:solidFill>
            </a:endParaRPr>
          </a:p>
          <a:p>
            <a:endParaRPr lang="en-US" sz="900" dirty="0">
              <a:solidFill>
                <a:schemeClr val="bg1"/>
              </a:solidFill>
            </a:endParaRPr>
          </a:p>
          <a:p>
            <a:endParaRPr lang="en-US" sz="900" dirty="0">
              <a:solidFill>
                <a:schemeClr val="bg1"/>
              </a:solidFill>
            </a:endParaRPr>
          </a:p>
          <a:p>
            <a:endParaRPr lang="en-US" sz="900" noProof="1">
              <a:solidFill>
                <a:schemeClr val="bg1"/>
              </a:solidFill>
            </a:endParaRPr>
          </a:p>
        </p:txBody>
      </p:sp>
      <p:sp>
        <p:nvSpPr>
          <p:cNvPr id="46" name="TextBox 45">
            <a:extLst>
              <a:ext uri="{FF2B5EF4-FFF2-40B4-BE49-F238E27FC236}">
                <a16:creationId xmlns:a16="http://schemas.microsoft.com/office/drawing/2014/main" id="{79F938FD-6A13-C577-E29D-3145BACE8D41}"/>
              </a:ext>
            </a:extLst>
          </p:cNvPr>
          <p:cNvSpPr txBox="1"/>
          <p:nvPr/>
        </p:nvSpPr>
        <p:spPr>
          <a:xfrm>
            <a:off x="1824738" y="4022585"/>
            <a:ext cx="1060365" cy="784830"/>
          </a:xfrm>
          <a:prstGeom prst="rect">
            <a:avLst/>
          </a:prstGeom>
          <a:noFill/>
        </p:spPr>
        <p:txBody>
          <a:bodyPr wrap="square" rtlCol="0">
            <a:spAutoFit/>
          </a:bodyPr>
          <a:lstStyle/>
          <a:p>
            <a:r>
              <a:rPr lang="en-US" sz="900" dirty="0">
                <a:solidFill>
                  <a:schemeClr val="bg1"/>
                </a:solidFill>
              </a:rPr>
              <a:t>The team used an 80/20 split to create test &amp; validation data. Separate queries</a:t>
            </a:r>
            <a:endParaRPr lang="en-US" dirty="0"/>
          </a:p>
        </p:txBody>
      </p:sp>
      <p:sp>
        <p:nvSpPr>
          <p:cNvPr id="48" name="TextBox 47">
            <a:extLst>
              <a:ext uri="{FF2B5EF4-FFF2-40B4-BE49-F238E27FC236}">
                <a16:creationId xmlns:a16="http://schemas.microsoft.com/office/drawing/2014/main" id="{DF4C6C33-D5C6-3910-64CA-5A3DB139DEFA}"/>
              </a:ext>
            </a:extLst>
          </p:cNvPr>
          <p:cNvSpPr txBox="1"/>
          <p:nvPr/>
        </p:nvSpPr>
        <p:spPr>
          <a:xfrm>
            <a:off x="1824739" y="4705315"/>
            <a:ext cx="1796266" cy="369332"/>
          </a:xfrm>
          <a:prstGeom prst="rect">
            <a:avLst/>
          </a:prstGeom>
          <a:noFill/>
        </p:spPr>
        <p:txBody>
          <a:bodyPr wrap="square">
            <a:spAutoFit/>
          </a:bodyPr>
          <a:lstStyle/>
          <a:p>
            <a:r>
              <a:rPr lang="en-US" sz="900" dirty="0">
                <a:solidFill>
                  <a:schemeClr val="bg1"/>
                </a:solidFill>
              </a:rPr>
              <a:t>were developed for evaluating the models to prevent data leakage.</a:t>
            </a:r>
          </a:p>
        </p:txBody>
      </p:sp>
      <p:sp>
        <p:nvSpPr>
          <p:cNvPr id="99" name="TextBox 98">
            <a:extLst>
              <a:ext uri="{FF2B5EF4-FFF2-40B4-BE49-F238E27FC236}">
                <a16:creationId xmlns:a16="http://schemas.microsoft.com/office/drawing/2014/main" id="{42743997-3378-A0A7-A67F-A2B17CA854DA}"/>
              </a:ext>
            </a:extLst>
          </p:cNvPr>
          <p:cNvSpPr txBox="1"/>
          <p:nvPr/>
        </p:nvSpPr>
        <p:spPr>
          <a:xfrm>
            <a:off x="1779340" y="3221005"/>
            <a:ext cx="1845625" cy="307777"/>
          </a:xfrm>
          <a:prstGeom prst="rect">
            <a:avLst/>
          </a:prstGeom>
          <a:solidFill>
            <a:schemeClr val="accent2"/>
          </a:solidFill>
        </p:spPr>
        <p:txBody>
          <a:bodyPr wrap="square" lIns="108000" rtlCol="0">
            <a:spAutoFit/>
          </a:bodyPr>
          <a:lstStyle/>
          <a:p>
            <a:pPr algn="ctr"/>
            <a:r>
              <a:rPr lang="en-US" sz="1400" b="1" dirty="0">
                <a:solidFill>
                  <a:schemeClr val="accent2">
                    <a:lumMod val="10000"/>
                    <a:lumOff val="90000"/>
                  </a:schemeClr>
                </a:solidFill>
                <a:latin typeface="+mj-lt"/>
              </a:rPr>
              <a:t>Synthetic</a:t>
            </a:r>
            <a:r>
              <a:rPr lang="en-US" sz="1400" dirty="0">
                <a:solidFill>
                  <a:schemeClr val="accent2">
                    <a:lumMod val="10000"/>
                    <a:lumOff val="90000"/>
                  </a:schemeClr>
                </a:solidFill>
                <a:latin typeface="+mj-lt"/>
              </a:rPr>
              <a:t> </a:t>
            </a:r>
            <a:r>
              <a:rPr lang="en-US" sz="1400" b="1" dirty="0">
                <a:solidFill>
                  <a:schemeClr val="accent2">
                    <a:lumMod val="10000"/>
                    <a:lumOff val="90000"/>
                  </a:schemeClr>
                </a:solidFill>
                <a:latin typeface="+mj-lt"/>
              </a:rPr>
              <a:t>Data</a:t>
            </a:r>
          </a:p>
        </p:txBody>
      </p:sp>
      <p:sp>
        <p:nvSpPr>
          <p:cNvPr id="154" name="TextBox 153">
            <a:extLst>
              <a:ext uri="{FF2B5EF4-FFF2-40B4-BE49-F238E27FC236}">
                <a16:creationId xmlns:a16="http://schemas.microsoft.com/office/drawing/2014/main" id="{3A0518D1-D37C-415C-A198-CC8AD3DD187F}"/>
              </a:ext>
            </a:extLst>
          </p:cNvPr>
          <p:cNvSpPr txBox="1"/>
          <p:nvPr/>
        </p:nvSpPr>
        <p:spPr>
          <a:xfrm>
            <a:off x="1797137" y="5102383"/>
            <a:ext cx="1832550" cy="307777"/>
          </a:xfrm>
          <a:prstGeom prst="rect">
            <a:avLst/>
          </a:prstGeom>
          <a:solidFill>
            <a:schemeClr val="accent2"/>
          </a:solidFill>
        </p:spPr>
        <p:txBody>
          <a:bodyPr wrap="square" rtlCol="0">
            <a:spAutoFit/>
          </a:bodyPr>
          <a:lstStyle/>
          <a:p>
            <a:r>
              <a:rPr lang="en-US" sz="1400" b="1" dirty="0">
                <a:solidFill>
                  <a:schemeClr val="accent2">
                    <a:lumMod val="10000"/>
                    <a:lumOff val="90000"/>
                  </a:schemeClr>
                </a:solidFill>
                <a:latin typeface="+mj-lt"/>
              </a:rPr>
              <a:t>Model Evaluation</a:t>
            </a:r>
          </a:p>
        </p:txBody>
      </p:sp>
      <p:sp>
        <p:nvSpPr>
          <p:cNvPr id="4" name="Rectangle 3">
            <a:extLst>
              <a:ext uri="{FF2B5EF4-FFF2-40B4-BE49-F238E27FC236}">
                <a16:creationId xmlns:a16="http://schemas.microsoft.com/office/drawing/2014/main" id="{15C2D46F-F76B-CC20-CDE5-0DB388E193B2}"/>
              </a:ext>
            </a:extLst>
          </p:cNvPr>
          <p:cNvSpPr/>
          <p:nvPr/>
        </p:nvSpPr>
        <p:spPr>
          <a:xfrm>
            <a:off x="3875489" y="7492423"/>
            <a:ext cx="222302" cy="232298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DD28959-5D5C-7FE2-3078-443E8684F75E}"/>
              </a:ext>
            </a:extLst>
          </p:cNvPr>
          <p:cNvSpPr/>
          <p:nvPr/>
        </p:nvSpPr>
        <p:spPr>
          <a:xfrm>
            <a:off x="3915607" y="7498151"/>
            <a:ext cx="3617238" cy="231725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89801E58-97C1-1BA9-CE8A-3DC0125B291F}"/>
              </a:ext>
            </a:extLst>
          </p:cNvPr>
          <p:cNvGrpSpPr/>
          <p:nvPr/>
        </p:nvGrpSpPr>
        <p:grpSpPr>
          <a:xfrm>
            <a:off x="3915608" y="7492422"/>
            <a:ext cx="1835549" cy="2298762"/>
            <a:chOff x="1797523" y="3036239"/>
            <a:chExt cx="1835549" cy="2298762"/>
          </a:xfrm>
        </p:grpSpPr>
        <p:sp>
          <p:nvSpPr>
            <p:cNvPr id="98" name="TextBox 97">
              <a:extLst>
                <a:ext uri="{FF2B5EF4-FFF2-40B4-BE49-F238E27FC236}">
                  <a16:creationId xmlns:a16="http://schemas.microsoft.com/office/drawing/2014/main" id="{21B91271-2857-BF00-2301-54308BFE8EB9}"/>
                </a:ext>
              </a:extLst>
            </p:cNvPr>
            <p:cNvSpPr txBox="1"/>
            <p:nvPr/>
          </p:nvSpPr>
          <p:spPr>
            <a:xfrm>
              <a:off x="1797523" y="3036239"/>
              <a:ext cx="1835549" cy="307777"/>
            </a:xfrm>
            <a:prstGeom prst="rect">
              <a:avLst/>
            </a:prstGeom>
            <a:solidFill>
              <a:schemeClr val="accent2"/>
            </a:solidFill>
          </p:spPr>
          <p:txBody>
            <a:bodyPr wrap="square" lIns="108000" rtlCol="0">
              <a:spAutoFit/>
            </a:bodyPr>
            <a:lstStyle/>
            <a:p>
              <a:pPr algn="ctr"/>
              <a:r>
                <a:rPr lang="en-US" sz="1400" b="1" dirty="0">
                  <a:solidFill>
                    <a:schemeClr val="accent1"/>
                  </a:solidFill>
                  <a:latin typeface="+mj-lt"/>
                </a:rPr>
                <a:t>Fine-Tuned GPT</a:t>
              </a:r>
            </a:p>
          </p:txBody>
        </p:sp>
        <p:sp>
          <p:nvSpPr>
            <p:cNvPr id="12" name="TextBox 11">
              <a:extLst>
                <a:ext uri="{FF2B5EF4-FFF2-40B4-BE49-F238E27FC236}">
                  <a16:creationId xmlns:a16="http://schemas.microsoft.com/office/drawing/2014/main" id="{0A8789F0-685D-54F3-AD6D-FB9F654AD541}"/>
                </a:ext>
              </a:extLst>
            </p:cNvPr>
            <p:cNvSpPr txBox="1"/>
            <p:nvPr/>
          </p:nvSpPr>
          <p:spPr>
            <a:xfrm>
              <a:off x="1861386" y="3375732"/>
              <a:ext cx="1751065" cy="1755488"/>
            </a:xfrm>
            <a:prstGeom prst="rect">
              <a:avLst/>
            </a:prstGeom>
            <a:noFill/>
          </p:spPr>
          <p:txBody>
            <a:bodyPr wrap="square" lIns="0" tIns="0" rIns="0" bIns="0" rtlCol="0">
              <a:noAutofit/>
            </a:bodyPr>
            <a:lstStyle/>
            <a:p>
              <a:r>
                <a:rPr lang="en-US" sz="900" dirty="0">
                  <a:solidFill>
                    <a:schemeClr val="bg1"/>
                  </a:solidFill>
                </a:rPr>
                <a:t>The NPS API documentation and URL structure did not lend itself to easy interpretation by typical chatbot models. The team explored fine-tuning GPT models to create the parameters for NPS API calls based on a user query. </a:t>
              </a:r>
            </a:p>
            <a:p>
              <a:endParaRPr lang="en-US" sz="900" dirty="0">
                <a:solidFill>
                  <a:schemeClr val="bg1"/>
                </a:solidFill>
              </a:endParaRPr>
            </a:p>
            <a:p>
              <a:endParaRPr lang="en-US" sz="900" dirty="0">
                <a:solidFill>
                  <a:schemeClr val="bg1"/>
                </a:solidFill>
              </a:endParaRPr>
            </a:p>
            <a:p>
              <a:endParaRPr lang="en-US" sz="900" noProof="1">
                <a:solidFill>
                  <a:schemeClr val="bg1"/>
                </a:solidFill>
              </a:endParaRPr>
            </a:p>
          </p:txBody>
        </p:sp>
        <p:pic>
          <p:nvPicPr>
            <p:cNvPr id="35" name="Picture 34">
              <a:extLst>
                <a:ext uri="{FF2B5EF4-FFF2-40B4-BE49-F238E27FC236}">
                  <a16:creationId xmlns:a16="http://schemas.microsoft.com/office/drawing/2014/main" id="{F0DBF6B8-8F8E-D524-FCFB-E5A1FABA0B9E}"/>
                </a:ext>
              </a:extLst>
            </p:cNvPr>
            <p:cNvPicPr>
              <a:picLocks noChangeAspect="1"/>
            </p:cNvPicPr>
            <p:nvPr/>
          </p:nvPicPr>
          <p:blipFill>
            <a:blip r:embed="rId20"/>
            <a:stretch>
              <a:fillRect/>
            </a:stretch>
          </p:blipFill>
          <p:spPr>
            <a:xfrm>
              <a:off x="1812721" y="4352856"/>
              <a:ext cx="1799729" cy="982145"/>
            </a:xfrm>
            <a:prstGeom prst="rect">
              <a:avLst/>
            </a:prstGeom>
          </p:spPr>
        </p:pic>
      </p:grpSp>
      <p:sp>
        <p:nvSpPr>
          <p:cNvPr id="139" name="TextBox 138">
            <a:extLst>
              <a:ext uri="{FF2B5EF4-FFF2-40B4-BE49-F238E27FC236}">
                <a16:creationId xmlns:a16="http://schemas.microsoft.com/office/drawing/2014/main" id="{FB8C4578-58A6-447F-A5FF-C37752CCAE55}"/>
              </a:ext>
            </a:extLst>
          </p:cNvPr>
          <p:cNvSpPr txBox="1"/>
          <p:nvPr/>
        </p:nvSpPr>
        <p:spPr>
          <a:xfrm>
            <a:off x="5739591" y="7495649"/>
            <a:ext cx="1793253" cy="307777"/>
          </a:xfrm>
          <a:prstGeom prst="rect">
            <a:avLst/>
          </a:prstGeom>
          <a:solidFill>
            <a:schemeClr val="accent2"/>
          </a:solidFill>
        </p:spPr>
        <p:txBody>
          <a:bodyPr wrap="square" lIns="108000" rtlCol="0">
            <a:spAutoFit/>
          </a:bodyPr>
          <a:lstStyle/>
          <a:p>
            <a:pPr algn="ctr"/>
            <a:r>
              <a:rPr lang="en-US" sz="1400" b="1" dirty="0">
                <a:solidFill>
                  <a:schemeClr val="accent1"/>
                </a:solidFill>
                <a:latin typeface="+mj-lt"/>
              </a:rPr>
              <a:t>LangChain</a:t>
            </a:r>
          </a:p>
        </p:txBody>
      </p:sp>
      <p:sp>
        <p:nvSpPr>
          <p:cNvPr id="11" name="Rectangle 10">
            <a:extLst>
              <a:ext uri="{FF2B5EF4-FFF2-40B4-BE49-F238E27FC236}">
                <a16:creationId xmlns:a16="http://schemas.microsoft.com/office/drawing/2014/main" id="{A8503C55-AC76-E4A9-F64C-05698A8D17B3}"/>
              </a:ext>
            </a:extLst>
          </p:cNvPr>
          <p:cNvSpPr/>
          <p:nvPr/>
        </p:nvSpPr>
        <p:spPr>
          <a:xfrm>
            <a:off x="5733819" y="7469612"/>
            <a:ext cx="45719" cy="234829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65829BE-EC75-A76A-FA6F-87C98FA8D6A3}"/>
              </a:ext>
            </a:extLst>
          </p:cNvPr>
          <p:cNvGrpSpPr/>
          <p:nvPr/>
        </p:nvGrpSpPr>
        <p:grpSpPr>
          <a:xfrm>
            <a:off x="3653814" y="4653808"/>
            <a:ext cx="3864094" cy="2798656"/>
            <a:chOff x="3653814" y="4653808"/>
            <a:chExt cx="3864094" cy="2798656"/>
          </a:xfrm>
        </p:grpSpPr>
        <p:sp>
          <p:nvSpPr>
            <p:cNvPr id="19" name="Rectangle: Rounded Corners 18">
              <a:extLst>
                <a:ext uri="{FF2B5EF4-FFF2-40B4-BE49-F238E27FC236}">
                  <a16:creationId xmlns:a16="http://schemas.microsoft.com/office/drawing/2014/main" id="{26217BCB-F42D-A7CB-AD9A-E3DBE5847A96}"/>
                </a:ext>
              </a:extLst>
            </p:cNvPr>
            <p:cNvSpPr/>
            <p:nvPr/>
          </p:nvSpPr>
          <p:spPr>
            <a:xfrm>
              <a:off x="6347929" y="4773034"/>
              <a:ext cx="1169979" cy="1014288"/>
            </a:xfrm>
            <a:prstGeom prst="roundRect">
              <a:avLst/>
            </a:prstGeom>
            <a:solidFill>
              <a:srgbClr val="DB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6">
                      <a:lumMod val="60000"/>
                      <a:lumOff val="40000"/>
                    </a:schemeClr>
                  </a:solidFill>
                </a:ln>
              </a:endParaRPr>
            </a:p>
          </p:txBody>
        </p:sp>
        <p:grpSp>
          <p:nvGrpSpPr>
            <p:cNvPr id="100" name="Group 99">
              <a:extLst>
                <a:ext uri="{FF2B5EF4-FFF2-40B4-BE49-F238E27FC236}">
                  <a16:creationId xmlns:a16="http://schemas.microsoft.com/office/drawing/2014/main" id="{49800B09-6E59-1B5E-8C78-343E56BA6C72}"/>
                </a:ext>
              </a:extLst>
            </p:cNvPr>
            <p:cNvGrpSpPr/>
            <p:nvPr/>
          </p:nvGrpSpPr>
          <p:grpSpPr>
            <a:xfrm>
              <a:off x="3653814" y="4653808"/>
              <a:ext cx="3861205" cy="2798656"/>
              <a:chOff x="3343880" y="3886901"/>
              <a:chExt cx="3861205" cy="2798656"/>
            </a:xfrm>
          </p:grpSpPr>
          <p:grpSp>
            <p:nvGrpSpPr>
              <p:cNvPr id="34" name="Group 33">
                <a:extLst>
                  <a:ext uri="{FF2B5EF4-FFF2-40B4-BE49-F238E27FC236}">
                    <a16:creationId xmlns:a16="http://schemas.microsoft.com/office/drawing/2014/main" id="{721F412C-52E1-41CC-9338-529ED7464434}"/>
                  </a:ext>
                </a:extLst>
              </p:cNvPr>
              <p:cNvGrpSpPr/>
              <p:nvPr/>
            </p:nvGrpSpPr>
            <p:grpSpPr>
              <a:xfrm>
                <a:off x="3343880" y="3886901"/>
                <a:ext cx="3861205" cy="2798656"/>
                <a:chOff x="3343880" y="-151699"/>
                <a:chExt cx="3861205" cy="2798656"/>
              </a:xfrm>
            </p:grpSpPr>
            <p:sp>
              <p:nvSpPr>
                <p:cNvPr id="18" name="Rectangle: Rounded Corners 17">
                  <a:extLst>
                    <a:ext uri="{FF2B5EF4-FFF2-40B4-BE49-F238E27FC236}">
                      <a16:creationId xmlns:a16="http://schemas.microsoft.com/office/drawing/2014/main" id="{652101FE-8FCB-B3F5-954F-EF6F125E8744}"/>
                    </a:ext>
                  </a:extLst>
                </p:cNvPr>
                <p:cNvSpPr/>
                <p:nvPr/>
              </p:nvSpPr>
              <p:spPr>
                <a:xfrm>
                  <a:off x="6035106" y="-32473"/>
                  <a:ext cx="1169979" cy="1014288"/>
                </a:xfrm>
                <a:prstGeom prst="roundRect">
                  <a:avLst/>
                </a:prstGeom>
                <a:solidFill>
                  <a:srgbClr val="5C3E0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6">
                          <a:lumMod val="60000"/>
                          <a:lumOff val="40000"/>
                        </a:schemeClr>
                      </a:solidFill>
                    </a:ln>
                  </a:endParaRPr>
                </a:p>
              </p:txBody>
            </p:sp>
            <p:graphicFrame>
              <p:nvGraphicFramePr>
                <p:cNvPr id="15" name="Chart 14">
                  <a:extLst>
                    <a:ext uri="{FF2B5EF4-FFF2-40B4-BE49-F238E27FC236}">
                      <a16:creationId xmlns:a16="http://schemas.microsoft.com/office/drawing/2014/main" id="{800FAAB9-4B4A-9FD5-E4E0-FEB8D5D07866}"/>
                    </a:ext>
                  </a:extLst>
                </p:cNvPr>
                <p:cNvGraphicFramePr>
                  <a:graphicFrameLocks/>
                </p:cNvGraphicFramePr>
                <p:nvPr>
                  <p:extLst>
                    <p:ext uri="{D42A27DB-BD31-4B8C-83A1-F6EECF244321}">
                      <p14:modId xmlns:p14="http://schemas.microsoft.com/office/powerpoint/2010/main" val="1688637758"/>
                    </p:ext>
                  </p:extLst>
                </p:nvPr>
              </p:nvGraphicFramePr>
              <p:xfrm>
                <a:off x="3343880" y="-151699"/>
                <a:ext cx="3853589" cy="2798656"/>
              </p:xfrm>
              <a:graphic>
                <a:graphicData uri="http://schemas.openxmlformats.org/drawingml/2006/chart">
                  <c:chart xmlns:c="http://schemas.openxmlformats.org/drawingml/2006/chart" xmlns:r="http://schemas.openxmlformats.org/officeDocument/2006/relationships" r:id="rId21"/>
                </a:graphicData>
              </a:graphic>
            </p:graphicFrame>
          </p:grpSp>
          <p:sp>
            <p:nvSpPr>
              <p:cNvPr id="13" name="TextBox 12">
                <a:extLst>
                  <a:ext uri="{FF2B5EF4-FFF2-40B4-BE49-F238E27FC236}">
                    <a16:creationId xmlns:a16="http://schemas.microsoft.com/office/drawing/2014/main" id="{CEAF40BF-6CAB-4F00-BD96-FA6E64E38665}"/>
                  </a:ext>
                </a:extLst>
              </p:cNvPr>
              <p:cNvSpPr txBox="1"/>
              <p:nvPr/>
            </p:nvSpPr>
            <p:spPr>
              <a:xfrm>
                <a:off x="3381980" y="4347078"/>
                <a:ext cx="3162590" cy="307777"/>
              </a:xfrm>
              <a:prstGeom prst="rect">
                <a:avLst/>
              </a:prstGeom>
              <a:noFill/>
            </p:spPr>
            <p:txBody>
              <a:bodyPr wrap="square" rtlCol="0">
                <a:spAutoFit/>
              </a:bodyPr>
              <a:lstStyle/>
              <a:p>
                <a:r>
                  <a:rPr lang="en-US" sz="1400" dirty="0">
                    <a:solidFill>
                      <a:schemeClr val="bg1"/>
                    </a:solidFill>
                    <a:latin typeface="+mj-lt"/>
                  </a:rPr>
                  <a:t>Recreational Visits 2023</a:t>
                </a:r>
              </a:p>
            </p:txBody>
          </p:sp>
        </p:grpSp>
      </p:grpSp>
      <p:sp>
        <p:nvSpPr>
          <p:cNvPr id="155" name="TextBox 154">
            <a:extLst>
              <a:ext uri="{FF2B5EF4-FFF2-40B4-BE49-F238E27FC236}">
                <a16:creationId xmlns:a16="http://schemas.microsoft.com/office/drawing/2014/main" id="{F72E8BDC-963B-4314-A5C6-F387147AE54C}"/>
              </a:ext>
            </a:extLst>
          </p:cNvPr>
          <p:cNvSpPr txBox="1"/>
          <p:nvPr/>
        </p:nvSpPr>
        <p:spPr>
          <a:xfrm>
            <a:off x="1826208" y="5413167"/>
            <a:ext cx="1814291" cy="2027371"/>
          </a:xfrm>
          <a:prstGeom prst="rect">
            <a:avLst/>
          </a:prstGeom>
          <a:noFill/>
        </p:spPr>
        <p:txBody>
          <a:bodyPr wrap="square" lIns="0" tIns="0" rIns="0" bIns="0" rtlCol="0">
            <a:noAutofit/>
          </a:bodyPr>
          <a:lstStyle/>
          <a:p>
            <a:r>
              <a:rPr lang="en-US" sz="900" dirty="0">
                <a:solidFill>
                  <a:schemeClr val="bg1"/>
                </a:solidFill>
              </a:rPr>
              <a:t>The synthetic test data allowed us to evaluate multiple models by comparing their accuracy scores on park code, intent, and endpoint predictions. The Naïve Bayes model performed as well as the GPT model on intent while surpassing  the GPT model in endpoint &amp; park code predictions. The GPT model had the best performance on intent as it was fine-tuned on the synthetic data and as an LLM can handle more language variance. However, the GPT model was prone to some hallucinatory effects which reduced performance.</a:t>
            </a:r>
          </a:p>
          <a:p>
            <a:endParaRPr lang="en-US" sz="900" noProof="1">
              <a:solidFill>
                <a:schemeClr val="bg1"/>
              </a:solidFill>
            </a:endParaRPr>
          </a:p>
        </p:txBody>
      </p:sp>
      <p:sp>
        <p:nvSpPr>
          <p:cNvPr id="147" name="TextBox 146">
            <a:extLst>
              <a:ext uri="{FF2B5EF4-FFF2-40B4-BE49-F238E27FC236}">
                <a16:creationId xmlns:a16="http://schemas.microsoft.com/office/drawing/2014/main" id="{10EAA1AA-ACD2-4264-8772-16CBB14395ED}"/>
              </a:ext>
            </a:extLst>
          </p:cNvPr>
          <p:cNvSpPr txBox="1"/>
          <p:nvPr/>
        </p:nvSpPr>
        <p:spPr>
          <a:xfrm>
            <a:off x="5802023" y="7825062"/>
            <a:ext cx="1720620" cy="1987426"/>
          </a:xfrm>
          <a:prstGeom prst="rect">
            <a:avLst/>
          </a:prstGeom>
          <a:noFill/>
        </p:spPr>
        <p:txBody>
          <a:bodyPr wrap="square" lIns="0" tIns="0" rIns="0" bIns="0" rtlCol="0">
            <a:noAutofit/>
          </a:bodyPr>
          <a:lstStyle/>
          <a:p>
            <a:r>
              <a:rPr lang="en-US" sz="900" dirty="0">
                <a:solidFill>
                  <a:schemeClr val="bg1"/>
                </a:solidFill>
              </a:rPr>
              <a:t>Creating a method for interpreting each of the endpoint datasets was a necessary step in building Park Pal. Our team implemented a LangChain chatbot built using prompt templates to craft responses.</a:t>
            </a:r>
          </a:p>
          <a:p>
            <a:pPr algn="ctr"/>
            <a:r>
              <a:rPr lang="en-US" sz="900" dirty="0">
                <a:solidFill>
                  <a:schemeClr val="bg1"/>
                </a:solidFill>
              </a:rPr>
              <a:t> </a:t>
            </a:r>
            <a:r>
              <a:rPr lang="en-US" sz="1000" b="1" dirty="0">
                <a:solidFill>
                  <a:schemeClr val="accent2"/>
                </a:solidFill>
              </a:rPr>
              <a:t>LangChain uses OpenAI’s ChatGPT to answer user queries based on API call results. </a:t>
            </a:r>
          </a:p>
          <a:p>
            <a:r>
              <a:rPr lang="en-US" sz="900" dirty="0">
                <a:solidFill>
                  <a:schemeClr val="bg1"/>
                </a:solidFill>
              </a:rPr>
              <a:t>Utilizing LangChain allows Park Pal to provide users with up-to-date information related to alerts and events.</a:t>
            </a:r>
            <a:endParaRPr lang="en-US" sz="900" noProof="1">
              <a:solidFill>
                <a:schemeClr val="bg1"/>
              </a:solidFill>
            </a:endParaRPr>
          </a:p>
        </p:txBody>
      </p:sp>
      <p:sp>
        <p:nvSpPr>
          <p:cNvPr id="24" name="Rectangle 23">
            <a:extLst>
              <a:ext uri="{FF2B5EF4-FFF2-40B4-BE49-F238E27FC236}">
                <a16:creationId xmlns:a16="http://schemas.microsoft.com/office/drawing/2014/main" id="{A5C25272-5E17-F105-1658-8D56E4BF21E1}"/>
              </a:ext>
            </a:extLst>
          </p:cNvPr>
          <p:cNvSpPr/>
          <p:nvPr/>
        </p:nvSpPr>
        <p:spPr>
          <a:xfrm>
            <a:off x="242276" y="7497695"/>
            <a:ext cx="3635675" cy="232020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Picture 38">
            <a:extLst>
              <a:ext uri="{FF2B5EF4-FFF2-40B4-BE49-F238E27FC236}">
                <a16:creationId xmlns:a16="http://schemas.microsoft.com/office/drawing/2014/main" id="{45089DF9-04ED-86AB-944F-1434F44DBAEA}"/>
              </a:ext>
            </a:extLst>
          </p:cNvPr>
          <p:cNvPicPr>
            <a:picLocks noChangeAspect="1"/>
          </p:cNvPicPr>
          <p:nvPr/>
        </p:nvPicPr>
        <p:blipFill>
          <a:blip r:embed="rId22"/>
          <a:stretch>
            <a:fillRect/>
          </a:stretch>
        </p:blipFill>
        <p:spPr>
          <a:xfrm>
            <a:off x="2754259" y="4003186"/>
            <a:ext cx="858530" cy="682422"/>
          </a:xfrm>
          <a:prstGeom prst="rect">
            <a:avLst/>
          </a:prstGeom>
        </p:spPr>
      </p:pic>
      <p:pic>
        <p:nvPicPr>
          <p:cNvPr id="114" name="Picture 113">
            <a:extLst>
              <a:ext uri="{FF2B5EF4-FFF2-40B4-BE49-F238E27FC236}">
                <a16:creationId xmlns:a16="http://schemas.microsoft.com/office/drawing/2014/main" id="{9F266DA4-7424-920A-51DC-266BECBDDD96}"/>
              </a:ext>
            </a:extLst>
          </p:cNvPr>
          <p:cNvPicPr>
            <a:picLocks noChangeAspect="1"/>
          </p:cNvPicPr>
          <p:nvPr/>
        </p:nvPicPr>
        <p:blipFill>
          <a:blip r:embed="rId23"/>
          <a:stretch>
            <a:fillRect/>
          </a:stretch>
        </p:blipFill>
        <p:spPr>
          <a:xfrm>
            <a:off x="251166" y="1241844"/>
            <a:ext cx="3375502" cy="1946335"/>
          </a:xfrm>
          <a:prstGeom prst="rect">
            <a:avLst/>
          </a:prstGeom>
        </p:spPr>
      </p:pic>
      <p:pic>
        <p:nvPicPr>
          <p:cNvPr id="117" name="Picture 116">
            <a:extLst>
              <a:ext uri="{FF2B5EF4-FFF2-40B4-BE49-F238E27FC236}">
                <a16:creationId xmlns:a16="http://schemas.microsoft.com/office/drawing/2014/main" id="{44F4009F-5DC7-C900-4F76-BF06A72ADA74}"/>
              </a:ext>
            </a:extLst>
          </p:cNvPr>
          <p:cNvPicPr>
            <a:picLocks noChangeAspect="1"/>
          </p:cNvPicPr>
          <p:nvPr/>
        </p:nvPicPr>
        <p:blipFill>
          <a:blip r:embed="rId24"/>
          <a:stretch>
            <a:fillRect/>
          </a:stretch>
        </p:blipFill>
        <p:spPr>
          <a:xfrm>
            <a:off x="243546" y="3221065"/>
            <a:ext cx="1514264" cy="4215553"/>
          </a:xfrm>
          <a:prstGeom prst="rect">
            <a:avLst/>
          </a:prstGeom>
        </p:spPr>
      </p:pic>
      <p:pic>
        <p:nvPicPr>
          <p:cNvPr id="6" name="Picture 5">
            <a:extLst>
              <a:ext uri="{FF2B5EF4-FFF2-40B4-BE49-F238E27FC236}">
                <a16:creationId xmlns:a16="http://schemas.microsoft.com/office/drawing/2014/main" id="{18CCA4B1-814C-1E41-6AD0-32BE979E73CB}"/>
              </a:ext>
            </a:extLst>
          </p:cNvPr>
          <p:cNvPicPr>
            <a:picLocks noChangeAspect="1"/>
          </p:cNvPicPr>
          <p:nvPr/>
        </p:nvPicPr>
        <p:blipFill rotWithShape="1">
          <a:blip r:embed="rId25"/>
          <a:srcRect t="4129"/>
          <a:stretch/>
        </p:blipFill>
        <p:spPr>
          <a:xfrm>
            <a:off x="242583" y="1252255"/>
            <a:ext cx="3378352" cy="1934702"/>
          </a:xfrm>
          <a:prstGeom prst="rect">
            <a:avLst/>
          </a:prstGeom>
        </p:spPr>
      </p:pic>
      <p:pic>
        <p:nvPicPr>
          <p:cNvPr id="1028" name="Picture 4" descr="National Park Service">
            <a:extLst>
              <a:ext uri="{FF2B5EF4-FFF2-40B4-BE49-F238E27FC236}">
                <a16:creationId xmlns:a16="http://schemas.microsoft.com/office/drawing/2014/main" id="{50BAFCDE-27F8-6F4B-B2C8-FB67A4579B04}"/>
              </a:ext>
            </a:extLst>
          </p:cNvPr>
          <p:cNvPicPr>
            <a:picLocks noChangeAspect="1" noChangeArrowheads="1"/>
          </p:cNvPicPr>
          <p:nvPr/>
        </p:nvPicPr>
        <p:blipFill rotWithShape="1">
          <a:blip r:embed="rId26">
            <a:extLst>
              <a:ext uri="{28A0092B-C50C-407E-A947-70E740481C1C}">
                <a14:useLocalDpi xmlns:a14="http://schemas.microsoft.com/office/drawing/2010/main" val="0"/>
              </a:ext>
            </a:extLst>
          </a:blip>
          <a:srcRect l="12500" r="12500"/>
          <a:stretch/>
        </p:blipFill>
        <p:spPr bwMode="auto">
          <a:xfrm>
            <a:off x="266579" y="246984"/>
            <a:ext cx="1215081" cy="1215081"/>
          </a:xfrm>
          <a:prstGeom prst="ellipse">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44C2F9E-CCF0-A046-04DC-DB3B52649CD1}"/>
              </a:ext>
            </a:extLst>
          </p:cNvPr>
          <p:cNvSpPr txBox="1"/>
          <p:nvPr/>
        </p:nvSpPr>
        <p:spPr>
          <a:xfrm>
            <a:off x="198045" y="7459588"/>
            <a:ext cx="3162590" cy="492443"/>
          </a:xfrm>
          <a:prstGeom prst="rect">
            <a:avLst/>
          </a:prstGeom>
          <a:noFill/>
        </p:spPr>
        <p:txBody>
          <a:bodyPr wrap="square" rtlCol="0">
            <a:spAutoFit/>
          </a:bodyPr>
          <a:lstStyle/>
          <a:p>
            <a:r>
              <a:rPr lang="en-US" sz="1400" dirty="0">
                <a:solidFill>
                  <a:schemeClr val="bg1"/>
                </a:solidFill>
                <a:latin typeface="+mj-lt"/>
              </a:rPr>
              <a:t>API Parameter </a:t>
            </a:r>
            <a:endParaRPr lang="en-US" sz="1200" dirty="0">
              <a:solidFill>
                <a:schemeClr val="bg1"/>
              </a:solidFill>
              <a:latin typeface="+mj-lt"/>
            </a:endParaRPr>
          </a:p>
          <a:p>
            <a:r>
              <a:rPr lang="en-US" sz="1200" dirty="0">
                <a:solidFill>
                  <a:schemeClr val="bg1"/>
                </a:solidFill>
                <a:latin typeface="+mj-lt"/>
              </a:rPr>
              <a:t>Prediction Accuracy</a:t>
            </a:r>
          </a:p>
        </p:txBody>
      </p:sp>
      <p:graphicFrame>
        <p:nvGraphicFramePr>
          <p:cNvPr id="25" name="Chart 24">
            <a:extLst>
              <a:ext uri="{FF2B5EF4-FFF2-40B4-BE49-F238E27FC236}">
                <a16:creationId xmlns:a16="http://schemas.microsoft.com/office/drawing/2014/main" id="{C3476443-D81B-17AA-5EC4-F6E1729BBE8B}"/>
              </a:ext>
            </a:extLst>
          </p:cNvPr>
          <p:cNvGraphicFramePr>
            <a:graphicFrameLocks/>
          </p:cNvGraphicFramePr>
          <p:nvPr>
            <p:extLst>
              <p:ext uri="{D42A27DB-BD31-4B8C-83A1-F6EECF244321}">
                <p14:modId xmlns:p14="http://schemas.microsoft.com/office/powerpoint/2010/main" val="4100597556"/>
              </p:ext>
            </p:extLst>
          </p:nvPr>
        </p:nvGraphicFramePr>
        <p:xfrm>
          <a:off x="167263" y="7532332"/>
          <a:ext cx="3844777" cy="2349822"/>
        </p:xfrm>
        <a:graphic>
          <a:graphicData uri="http://schemas.openxmlformats.org/drawingml/2006/chart">
            <c:chart xmlns:c="http://schemas.openxmlformats.org/drawingml/2006/chart" xmlns:r="http://schemas.openxmlformats.org/officeDocument/2006/relationships" r:id="rId27"/>
          </a:graphicData>
        </a:graphic>
      </p:graphicFrame>
      <p:sp>
        <p:nvSpPr>
          <p:cNvPr id="40" name="AutoShape 4" descr="Brand assets - Hugging Face">
            <a:extLst>
              <a:ext uri="{FF2B5EF4-FFF2-40B4-BE49-F238E27FC236}">
                <a16:creationId xmlns:a16="http://schemas.microsoft.com/office/drawing/2014/main" id="{CF06C507-8735-58A4-F705-0A1A72608D9F}"/>
              </a:ext>
            </a:extLst>
          </p:cNvPr>
          <p:cNvSpPr>
            <a:spLocks noChangeAspect="1" noChangeArrowheads="1"/>
          </p:cNvSpPr>
          <p:nvPr/>
        </p:nvSpPr>
        <p:spPr bwMode="auto">
          <a:xfrm>
            <a:off x="3733800" y="487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 name="Picture 103">
            <a:extLst>
              <a:ext uri="{FF2B5EF4-FFF2-40B4-BE49-F238E27FC236}">
                <a16:creationId xmlns:a16="http://schemas.microsoft.com/office/drawing/2014/main" id="{E0E9059C-C0DC-6D6C-71DA-70F08AE2A804}"/>
              </a:ext>
            </a:extLst>
          </p:cNvPr>
          <p:cNvPicPr>
            <a:picLocks noChangeAspect="1"/>
          </p:cNvPicPr>
          <p:nvPr/>
        </p:nvPicPr>
        <p:blipFill>
          <a:blip r:embed="rId28"/>
          <a:stretch>
            <a:fillRect/>
          </a:stretch>
        </p:blipFill>
        <p:spPr>
          <a:xfrm>
            <a:off x="241777" y="3223516"/>
            <a:ext cx="1507863" cy="4236072"/>
          </a:xfrm>
          <a:prstGeom prst="rect">
            <a:avLst/>
          </a:prstGeom>
        </p:spPr>
      </p:pic>
      <p:pic>
        <p:nvPicPr>
          <p:cNvPr id="16" name="Picture 15">
            <a:extLst>
              <a:ext uri="{FF2B5EF4-FFF2-40B4-BE49-F238E27FC236}">
                <a16:creationId xmlns:a16="http://schemas.microsoft.com/office/drawing/2014/main" id="{5705D59F-775C-3038-3FD4-A5CB8CDF3378}"/>
              </a:ext>
            </a:extLst>
          </p:cNvPr>
          <p:cNvPicPr>
            <a:picLocks noChangeAspect="1"/>
          </p:cNvPicPr>
          <p:nvPr/>
        </p:nvPicPr>
        <p:blipFill>
          <a:blip r:embed="rId29"/>
          <a:stretch>
            <a:fillRect/>
          </a:stretch>
        </p:blipFill>
        <p:spPr>
          <a:xfrm>
            <a:off x="6440854" y="2201943"/>
            <a:ext cx="1056651" cy="1056651"/>
          </a:xfrm>
          <a:prstGeom prst="rect">
            <a:avLst/>
          </a:prstGeom>
        </p:spPr>
      </p:pic>
      <p:pic>
        <p:nvPicPr>
          <p:cNvPr id="44" name="Picture 43">
            <a:extLst>
              <a:ext uri="{FF2B5EF4-FFF2-40B4-BE49-F238E27FC236}">
                <a16:creationId xmlns:a16="http://schemas.microsoft.com/office/drawing/2014/main" id="{BBF1AF1B-E961-E13A-BD11-4E88830811CE}"/>
              </a:ext>
            </a:extLst>
          </p:cNvPr>
          <p:cNvPicPr>
            <a:picLocks noChangeAspect="1"/>
          </p:cNvPicPr>
          <p:nvPr/>
        </p:nvPicPr>
        <p:blipFill>
          <a:blip r:embed="rId30"/>
          <a:stretch>
            <a:fillRect/>
          </a:stretch>
        </p:blipFill>
        <p:spPr>
          <a:xfrm>
            <a:off x="252371" y="3222242"/>
            <a:ext cx="1505358" cy="4230221"/>
          </a:xfrm>
          <a:prstGeom prst="rect">
            <a:avLst/>
          </a:prstGeom>
        </p:spPr>
      </p:pic>
    </p:spTree>
    <p:extLst>
      <p:ext uri="{BB962C8B-B14F-4D97-AF65-F5344CB8AC3E}">
        <p14:creationId xmlns:p14="http://schemas.microsoft.com/office/powerpoint/2010/main" val="2203572961"/>
      </p:ext>
    </p:extLst>
  </p:cSld>
  <p:clrMapOvr>
    <a:masterClrMapping/>
  </p:clrMapOvr>
</p:sld>
</file>

<file path=ppt/theme/theme1.xml><?xml version="1.0" encoding="utf-8"?>
<a:theme xmlns:a="http://schemas.openxmlformats.org/drawingml/2006/main" name="Resume">
  <a:themeElements>
    <a:clrScheme name="Custom 21">
      <a:dk1>
        <a:srgbClr val="000000"/>
      </a:dk1>
      <a:lt1>
        <a:srgbClr val="262626"/>
      </a:lt1>
      <a:dk2>
        <a:srgbClr val="A7A7A7"/>
      </a:dk2>
      <a:lt2>
        <a:srgbClr val="FFFFFF"/>
      </a:lt2>
      <a:accent1>
        <a:srgbClr val="DBE8D4"/>
      </a:accent1>
      <a:accent2>
        <a:srgbClr val="284A00"/>
      </a:accent2>
      <a:accent3>
        <a:srgbClr val="9EB5CC"/>
      </a:accent3>
      <a:accent4>
        <a:srgbClr val="B87B00"/>
      </a:accent4>
      <a:accent5>
        <a:srgbClr val="5C3D00"/>
      </a:accent5>
      <a:accent6>
        <a:srgbClr val="2D4256"/>
      </a:accent6>
      <a:hlink>
        <a:srgbClr val="356101"/>
      </a:hlink>
      <a:folHlink>
        <a:srgbClr val="BAFC6A"/>
      </a:folHlink>
    </a:clrScheme>
    <a:fontScheme name="Rock">
      <a:majorFont>
        <a:latin typeface="Rockwell"/>
        <a:ea typeface=""/>
        <a:cs typeface=""/>
      </a:majorFont>
      <a:minorFont>
        <a:latin typeface="Corbe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373653_win32_partially" id="{49A82B1B-E019-4C00-B055-6DB5681C2295}" vid="{B4C54626-7DC1-42B6-A391-F22B2B235A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66904C-BAED-4465-825E-748ECDB3F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3CCD5C-1585-4363-9EFD-3AF69BA5637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D504F61-D355-45F4-88A1-A506DA0E4D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5267</TotalTime>
  <Words>292</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Corbel</vt:lpstr>
      <vt:lpstr>Rockwell</vt:lpstr>
      <vt:lpstr>Resume</vt:lpstr>
      <vt:lpstr>Infographic Resume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Courtney</dc:creator>
  <cp:lastModifiedBy>Courtney</cp:lastModifiedBy>
  <cp:revision>59</cp:revision>
  <dcterms:created xsi:type="dcterms:W3CDTF">2024-07-10T14:06:58Z</dcterms:created>
  <dcterms:modified xsi:type="dcterms:W3CDTF">2024-08-09T20:43:58Z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